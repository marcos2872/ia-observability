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Observabilidade em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A8FAD"/>
                </a:solidFill>
                <a:latin typeface="Calibri"/>
              </a:defRPr>
            </a:pPr>
            <a:r>
              <a:t>Workshop prático — 1 hora · MLflow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206240"/>
            <a:ext cx="3047695" cy="2743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AACCDD"/>
                </a:solidFill>
                <a:latin typeface="Calibri"/>
              </a:defRPr>
            </a:pPr>
            <a:r>
              <a:t>Baseado no projeto ia-observability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1/24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3B66"/>
                </a:solidFill>
                <a:latin typeface="Calibri"/>
              </a:defRPr>
            </a:pPr>
            <a:r>
              <a:t>Roteiro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657600"/>
                <a:gridCol w="539496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Tempo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Bloco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Conteúdo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0–10 min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Por que observabilidade em IA?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A "caixa-preta" dos LLMs e o que muda em produção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10–20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Caso de uso e 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O incidente que ninguém consegue debugar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20–25 min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Os 4 pilares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Tracing, Custo, Avaliação, Monitoramento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25–50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Como usar (demos ao vivo)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Código + MLflow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50–60 min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Fechamento + Q&amp;A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Checklist e próximos passos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2/24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8FAD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Por que observabilidade em IA é importante?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A diferença entre software tradicional 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800"/>
              </a:spcBef>
              <a:spcAft>
                <a:spcPts val="200"/>
              </a:spcAft>
              <a:defRPr sz="1800" b="1">
                <a:solidFill>
                  <a:srgbClr val="2D3436"/>
                </a:solidFill>
                <a:latin typeface="Calibri"/>
              </a:defRPr>
            </a:pPr>
            <a:r>
              <a:t>Software tradicional: mesmo input → mesmo output</a:t>
            </a:r>
          </a:p>
          <a:p>
            <a:pPr>
              <a:spcBef>
                <a:spcPts val="1600"/>
              </a:spcBef>
              <a:spcAft>
                <a:spcPts val="200"/>
              </a:spcAft>
              <a:defRPr sz="1800" b="1">
                <a:solidFill>
                  <a:srgbClr val="2D3436"/>
                </a:solidFill>
                <a:latin typeface="Calibri"/>
              </a:defRPr>
            </a:pPr>
            <a:r>
              <a:t>Com LLMs isso quebra: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• Não-determinismo: o mesmo prompt pode gerar respostas diferentes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• Caixa-preta: você não vê por que o modelo respondeu daquela forma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• Falha silenciosa: o modelo alucina com confiança e devolve HTTP 200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• Custo variável: cada chamada custa tokens que se multiplicam em escala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• Pipelines complexos: RAG + tools + múltiplas idas ao LLM — qual etapa falhou?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4/24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O que é observabilidade em 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698480" cy="9144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52400"/>
          <a:lstStyle/>
          <a:p>
            <a:pPr algn="ctr"/>
            <a:r>
              <a:rPr sz="1600" b="0" i="1">
                <a:solidFill>
                  <a:srgbClr val="0D3B66"/>
                </a:solidFill>
                <a:latin typeface="Calibri"/>
              </a:rPr>
              <a:t>“É a capacidade de entender o estado interno de uma aplicação de IA
a partir das suas saídas externas: traces, tokens/custo, latência e qualidade.”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457200" cy="457200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508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D3436"/>
                </a:solidFill>
                <a:latin typeface="Calibri"/>
              </a:defRPr>
            </a:pPr>
            <a:r>
              <a:t>Requisição do usuário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060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Calibri"/>
              </a:defRPr>
            </a:pPr>
            <a:r>
              <a:t>O input chega na aplicação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91840"/>
            <a:ext cx="457200" cy="457200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508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9184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D3436"/>
                </a:solidFill>
                <a:latin typeface="Calibri"/>
              </a:defRPr>
            </a:pPr>
            <a:r>
              <a:t>Trace completo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Calibri"/>
              </a:defRPr>
            </a:pPr>
            <a:r>
              <a:t>Inputs, outputs, latência de cada passo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508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20624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D3436"/>
                </a:solidFill>
                <a:latin typeface="Calibri"/>
              </a:defRPr>
            </a:pPr>
            <a:r>
              <a:t>Análise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348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Calibri"/>
              </a:defRPr>
            </a:pPr>
            <a:r>
              <a:t>Tokens, custo, score de qualidade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Sem observabilidade, melhorar uma aplicação de IA vira chute. Com ela, vira engenharia.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5/24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8FAD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Caso de uso e o problema que ela resolve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6/24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O cenário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698480" cy="118872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03200"/>
          <a:lstStyle/>
          <a:p>
            <a:pPr algn="ctr"/>
            <a:r>
              <a:rPr sz="1500" b="0" i="1">
                <a:solidFill>
                  <a:srgbClr val="2D3436"/>
                </a:solidFill>
                <a:latin typeface="Calibri"/>
              </a:rPr>
              <a:t>“Um cliente reclamou que o bot deu uma resposta errada às 14h32. O time não consegue reproduzir. A conta de inferência triplicou no mês. Ninguém sabe qual ferramenta está lenta nem qual versão do prompt está no ar.”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D3436"/>
                </a:solidFill>
                <a:latin typeface="Calibri"/>
              </a:defRPr>
            </a:pPr>
            <a:r>
              <a:t>Sem observabilidade, cada pergunta é impossível de responder: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3200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500"/>
              </a:spcBef>
              <a:spcAft>
                <a:spcPts val="20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❓ “O que o usuário enviou e o que o modelo respondeu?”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❓ “Qual ferramenta o agente chamou? Ela falhou ou demorou?”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❓ “Por que a conta de tokens explodiu?”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❓ “Essa resposta estava certa? Quantas estão erradas?”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❓ “Qual versão do prompt gerou essa resposta?”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❓ “Quero auditar 100% de pagamentos, mas só 10% do resto”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7/24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O que cada problema resolve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0"/>
                <a:gridCol w="384048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Pergunta do time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 que resolve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O que o usuário enviou e o que o modelo respondeu?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 b="1">
                          <a:solidFill>
                            <a:srgbClr val="1A8FAD"/>
                          </a:solidFill>
                          <a:latin typeface="Calibri"/>
                        </a:defRPr>
                      </a:pPr>
                      <a:r>
                        <a:t>Tracing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Qual ferramenta o agente chamou? Falhou ou demorou?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 b="1">
                          <a:solidFill>
                            <a:srgbClr val="1A8FAD"/>
                          </a:solidFill>
                          <a:latin typeface="Calibri"/>
                        </a:defRPr>
                      </a:pPr>
                      <a:r>
                        <a:t>Spans de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Por que a conta de tokens explodiu?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 b="1">
                          <a:solidFill>
                            <a:srgbClr val="1A8FAD"/>
                          </a:solidFill>
                          <a:latin typeface="Calibri"/>
                        </a:defRPr>
                      </a:pPr>
                      <a:r>
                        <a:t>Token usage + custo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Essa resposta estava certa? Quantas estão erradas?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 b="1">
                          <a:solidFill>
                            <a:srgbClr val="1A8FAD"/>
                          </a:solidFill>
                          <a:latin typeface="Calibri"/>
                        </a:defRPr>
                      </a:pPr>
                      <a:r>
                        <a:t>Avaliação / Judges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Qual versão do prompt gerou isso?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 b="1">
                          <a:solidFill>
                            <a:srgbClr val="1A8FAD"/>
                          </a:solidFill>
                          <a:latin typeface="Calibri"/>
                        </a:defRPr>
                      </a:pPr>
                      <a:r>
                        <a:t>Prompt registry / versionamento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Auditar 100% de pagamentos, mas só 10% do resto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500" b="1">
                          <a:solidFill>
                            <a:srgbClr val="1A8FAD"/>
                          </a:solidFill>
                          <a:latin typeface="Calibri"/>
                        </a:defRPr>
                      </a:pPr>
                      <a:r>
                        <a:t>Sampling em produção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8/24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Como uma tool lenta aparece num trace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69848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@tool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def check_inventory(product: str) -&gt; str: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    """Consulta o estoque disponivel de um produto."""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    # Simula latencia alta seguida de falha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    time.sleep(2.5)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    return f"ERRO: Timeout ao consultar estoque do produto '{product}' - API indisponivel"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77800"/>
          <a:lstStyle/>
          <a:p>
            <a:pPr algn="ctr"/>
            <a:r>
              <a:rPr sz="1800" b="0" i="0">
                <a:solidFill>
                  <a:srgbClr val="2D3436"/>
                </a:solidFill>
                <a:latin typeface="Calibri"/>
              </a:rPr>
              <a:t>💡 </a:t>
            </a:r>
            <a:r>
              <a:rPr sz="1800" b="0" i="0">
                <a:solidFill>
                  <a:srgbClr val="2D3436"/>
                </a:solidFill>
                <a:latin typeface="Calibri"/>
              </a:rPr>
              <a:t>No MLflow UI, esse </a:t>
            </a:r>
            <a:r>
              <a:rPr sz="1800" b="1" i="0">
                <a:solidFill>
                  <a:srgbClr val="E67E22"/>
                </a:solidFill>
                <a:latin typeface="Calibri"/>
              </a:rPr>
              <a:t>time.sleep(2.5)</a:t>
            </a:r>
            <a:r>
              <a:rPr sz="1800" b="0" i="0">
                <a:solidFill>
                  <a:srgbClr val="2D3436"/>
                </a:solidFill>
                <a:latin typeface="Calibri"/>
              </a:rPr>
              <a:t> aparece como um span de 2,5s dentro do trace — o gargalo fica visível e mensurável, em vez de ser um mistério.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9/24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8FAD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Os 4 pilares da observabilidade de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10/24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4 pilares da observabilidade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51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651760" cy="73152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26517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0">
                <a:solidFill>
                  <a:srgbClr val="2D3436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D3B66"/>
                </a:solidFill>
                <a:latin typeface="Calibri"/>
              </a:defRPr>
            </a:pPr>
            <a:r>
              <a:t>Tracing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17520"/>
            <a:ext cx="23774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Registra cada passo da execução:</a:t>
            </a:r>
            <a:br/>
            <a:r>
              <a:t>inputs, outputs, latência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371600"/>
            <a:ext cx="2651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371600"/>
            <a:ext cx="2651760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737360"/>
            <a:ext cx="26517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0">
                <a:solidFill>
                  <a:srgbClr val="2D3436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4688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A8FAD"/>
                </a:solidFill>
                <a:latin typeface="Calibri"/>
              </a:defRPr>
            </a:pPr>
            <a:r>
              <a:t>Custo &amp;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017520"/>
            <a:ext cx="23774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Quanto cada chamada consome</a:t>
            </a:r>
            <a:br/>
            <a:r>
              <a:t>e quanto 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651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737360"/>
            <a:ext cx="26517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0">
                <a:solidFill>
                  <a:srgbClr val="2D3436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4688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7AE60"/>
                </a:solidFill>
                <a:latin typeface="Calibri"/>
              </a:defRPr>
            </a:pPr>
            <a:r>
              <a:t>Avaliação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017520"/>
            <a:ext cx="23774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Mede a qualidade das respostas</a:t>
            </a:r>
            <a:br/>
            <a:r>
              <a:t>com judges e scorers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371600"/>
            <a:ext cx="2651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371600"/>
            <a:ext cx="2651760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737360"/>
            <a:ext cx="26517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0">
                <a:solidFill>
                  <a:srgbClr val="2D3436"/>
                </a:solidFill>
                <a:latin typeface="Calibri"/>
              </a:defRPr>
            </a:pPr>
            <a:r>
              <a:t>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4688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E67E22"/>
                </a:solidFill>
                <a:latin typeface="Calibri"/>
              </a:defRPr>
            </a:pPr>
            <a:r>
              <a:t>Produção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3017520"/>
            <a:ext cx="23774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Opera em escala: sampling,</a:t>
            </a:r>
            <a:br/>
            <a:r>
              <a:t>feedback, sessions e users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11/24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8FAD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Como usar — demos ao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12/24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Demo 1 — Tracing em 1 linha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8FAD"/>
                </a:solidFill>
                <a:latin typeface="Calibri"/>
              </a:defRPr>
            </a:pPr>
            <a:r>
              <a:t>make tracing  ·  tracing_basics.py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6984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import mlflow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mlflow.openai.autolog()   # &lt;- 1 linha instrumenta todas as chamadas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client = get_client()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response = client.chat.completions.create(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    model=MODEL_NAME,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    messages=[...],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3200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800"/>
              </a:spcBef>
              <a:spcAft>
                <a:spcPts val="200"/>
              </a:spcAft>
              <a:defRPr sz="1800" b="0">
                <a:solidFill>
                  <a:srgbClr val="2D3436"/>
                </a:solidFill>
                <a:latin typeface="Calibri"/>
              </a:defRPr>
            </a:pPr>
            <a:r>
              <a:t>👉 Captura inputs, outputs, tokens e latência automaticamente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800" b="0">
                <a:solidFill>
                  <a:srgbClr val="2D3436"/>
                </a:solidFill>
                <a:latin typeface="Calibri"/>
              </a:defRPr>
            </a:pPr>
            <a:r>
              <a:t>👉 Sem nenhuma instrumentação manual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800" b="0">
                <a:solidFill>
                  <a:srgbClr val="2D3436"/>
                </a:solidFill>
                <a:latin typeface="Calibri"/>
              </a:defRPr>
            </a:pPr>
            <a:r>
              <a:t>👉 Abra o trace no MLflow UI e veja tudo pronto</a:t>
            </a:r>
          </a:p>
          <a:p>
            <a:pPr>
              <a:spcBef>
                <a:spcPts val="1600"/>
              </a:spcBef>
              <a:spcAft>
                <a:spcPts val="200"/>
              </a:spcAft>
              <a:defRPr sz="1600" b="0">
                <a:solidFill>
                  <a:srgbClr val="E67E22"/>
                </a:solidFill>
                <a:latin typeface="Calibri"/>
              </a:defRPr>
            </a:pPr>
            <a:r>
              <a:t>⚠️ Gotcha: sempre chame mlflow.flush_trace_async_logging() antes de search_traces()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13/24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Demo 2 — Pipelines complexos: spans aninhados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8FAD"/>
                </a:solidFill>
                <a:latin typeface="Calibri"/>
              </a:defRPr>
            </a:pPr>
            <a:r>
              <a:t>make tracing  ·  tracing_basics.py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69848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@mlflow.trace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def demo_rag_pipeline(question: str) -&gt; str: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    context = retrieve_context(question)        # span filho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    answer = generate_answer(question, context) # span filho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    return answer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@mlflow.trace(span_type="RETRIEVER")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def retrieve_context(question: str) -&gt; str: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    ...  # busca em vector store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@mlflow.trace(span_type="LLM")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def generate_answer(question: str, context: str) -&gt; str: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    ...  # chamada ao LLM com o contexto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77800"/>
          <a:lstStyle/>
          <a:p>
            <a:pPr algn="ctr"/>
            <a:r>
              <a:rPr sz="1800" b="0" i="0">
                <a:solidFill>
                  <a:srgbClr val="2D3436"/>
                </a:solidFill>
                <a:latin typeface="Calibri"/>
              </a:rPr>
              <a:t>💡 </a:t>
            </a:r>
            <a:r>
              <a:rPr sz="1600" b="0" i="0">
                <a:solidFill>
                  <a:srgbClr val="2D3436"/>
                </a:solidFill>
                <a:latin typeface="Calibri"/>
              </a:rPr>
              <a:t>Quando a resposta final está errada, o trace mostra: o problema foi o retrieval (contexto ruim) ou a geração (modelo)?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14/24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Demo 3 — Quanto isso custa?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8FAD"/>
                </a:solidFill>
                <a:latin typeface="Calibri"/>
              </a:defRPr>
            </a:pPr>
            <a:r>
              <a:t>make tokens  ·  token_usage.py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212080" cy="22860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846320" cy="21031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0"/>
              </a:spcBef>
              <a:spcAft>
                <a:spcPts val="200"/>
              </a:spcAft>
              <a:defRPr sz="1700" b="1">
                <a:solidFill>
                  <a:srgbClr val="0D3B66"/>
                </a:solidFill>
                <a:latin typeface="Calibri"/>
              </a:defRPr>
            </a:pPr>
            <a:r>
              <a:t>✅ MLflow calcula custo automático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700" b="1">
                <a:solidFill>
                  <a:srgbClr val="0D3B66"/>
                </a:solidFill>
                <a:latin typeface="Calibri"/>
              </a:defRPr>
            </a:pPr>
            <a:r>
              <a:t>para OpenAI, Anthropic e provedores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700" b="1">
                <a:solidFill>
                  <a:srgbClr val="0D3B66"/>
                </a:solidFill>
                <a:latin typeface="Calibri"/>
              </a:defRPr>
            </a:pPr>
            <a:r>
              <a:t>com pricing registrado.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371600"/>
            <a:ext cx="5212080" cy="228600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846320" cy="21031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0"/>
              </a:spcBef>
              <a:spcAft>
                <a:spcPts val="200"/>
              </a:spcAft>
              <a:defRPr sz="1700" b="1">
                <a:solidFill>
                  <a:srgbClr val="E67E22"/>
                </a:solidFill>
                <a:latin typeface="Calibri"/>
              </a:defRPr>
            </a:pPr>
            <a:r>
              <a:t>⚠️ Para modelos self-hosted: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700" b="1">
                <a:solidFill>
                  <a:srgbClr val="E67E22"/>
                </a:solidFill>
                <a:latin typeface="Calibri"/>
              </a:defRPr>
            </a:pPr>
            <a:r>
              <a:t>atribua custo manualmente no span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31920"/>
            <a:ext cx="106984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span.set_attribute("mlflow.llm.cost", {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    "input_cost": input_tokens * CUSTOM_INPUT_COST_PER_TOKEN,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    "output_cost": output_tokens * CUSTOM_OUTPUT_COST_PER_TOKEN,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    "total_cost": ...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8FAD"/>
                </a:solidFill>
                <a:latin typeface="Calibri"/>
              </a:defRPr>
            </a:pPr>
            <a:r>
              <a:t>👉 Veja 'Cost Breakdown' e 'Token Usage' por trace no MLflow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15/24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Demo 4 — A resposta estava certa?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8FAD"/>
                </a:solidFill>
                <a:latin typeface="Calibri"/>
              </a:defRPr>
            </a:pPr>
            <a:r>
              <a:t>make judges  ·  judges.py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212080" cy="32004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212080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A8FAD"/>
                </a:solidFill>
                <a:latin typeface="Calibri"/>
              </a:defRPr>
            </a:pPr>
            <a:r>
              <a:t>🧠 LLM Judge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Calibri"/>
              </a:defRPr>
            </a:pPr>
            <a:r>
              <a:t>Um modelo julga a resposta segundo regras</a:t>
            </a:r>
            <a:br/>
            <a:r>
              <a:t>em linguagem natural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560320"/>
            <a:ext cx="48463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Guidelines(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name="technical_accuracy",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guidelines=(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    "A resposta deve ser tecnicamente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     precisa sobre MLflow."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),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model=JUDGE_MODEL,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212080" cy="32004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521208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7AE60"/>
                </a:solidFill>
                <a:latin typeface="Calibri"/>
              </a:defRPr>
            </a:pPr>
            <a:r>
              <a:t>🔢 Code-based Scorer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Calibri"/>
              </a:defRPr>
            </a:pPr>
            <a:r>
              <a:t>Regra determinística em Python — sem custo</a:t>
            </a:r>
            <a:br/>
            <a:r>
              <a:t>de LLM e sem latência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560320"/>
            <a:ext cx="48463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@scorer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def no_hallucination_keywords(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inputs, outputs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) -&gt; Feedback: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red_flags = ["estudos mostram",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             "comprovado cientificamente"]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if any(f in str(outputs) for f in red_flags):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    return Feedback(value=False)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2D3436"/>
                </a:solidFill>
                <a:latin typeface="Consolas"/>
              </a:defRPr>
            </a:pPr>
            <a:r>
              <a:t>    return Feedback(value=True)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846320"/>
            <a:ext cx="10698480" cy="6400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tIns="152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💡 Dica: combine os dois.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LLM judges medem qualidade subjetiva; scorers de código garantem regras objetivas de graça.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669280"/>
            <a:ext cx="1069848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200">
                <a:solidFill>
                  <a:srgbClr val="2D3436"/>
                </a:solidFill>
                <a:latin typeface="Consolas"/>
              </a:defRPr>
            </a:pPr>
            <a:r>
              <a:t>results = mlflow.genai.evaluate(data=dataset, predict_fn=predict_fn, scorers=[...])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16/24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Demo 5 — Agente real com streaming + span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8FAD"/>
                </a:solidFill>
                <a:latin typeface="Calibri"/>
              </a:defRPr>
            </a:pPr>
            <a:r>
              <a:t>make langchain-agent  ·  langchain_agent.py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D3B66"/>
                </a:solidFill>
                <a:latin typeface="Calibri"/>
              </a:defRPr>
            </a:pPr>
            <a:r>
              <a:t>🏭 Mesmo padrão do backend de produção keepee-rag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114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9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► agent.astream() — streaming token a token em tempo real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► Span manual SpanType.AGENT com inputs/outputs explícitos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► Session management via dict (reconstrução manual do histórico)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► get_stream_writer() para logs de progresso das tools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► Eventos JSON newline-delimited via make_event()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► trace_id capturado do span e exposto para anexar feedback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► User/session vinculados ao trace ANTES do stream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► Tags (provider, model_name) setadas após o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17/24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autolog vs. Manual Span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206240"/>
                <a:gridCol w="4206240"/>
              </a:tblGrid>
              <a:tr h="679268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Aspecto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mlflow.langchain.autolog()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Padrão produção (manual span)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 b="1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Streaming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invoke() bloqueante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astream() token a token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 b="1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MemorySaver (checkpointer)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Dict (reconstrução manual)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 b="1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Controle do span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Automático (genérico)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Inputs/outputs explícitos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 b="1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Progresso 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Só o resultado final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Logs via get_stream_writer()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 b="1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Eventos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Apenas no trace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JSON newline-delimited (SSE)</a:t>
                      </a:r>
                    </a:p>
                  </a:txBody>
                  <a:tcPr>
                    <a:solidFill>
                      <a:srgbClr val="EEF5F8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ctr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 b="1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trace_id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get_last_active_trace_id()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spcAft>
                          <a:spcPts val="400"/>
                        </a:spcAft>
                        <a:defRPr sz="1400">
                          <a:solidFill>
                            <a:srgbClr val="2D3436"/>
                          </a:solidFill>
                          <a:latin typeface="Calibri"/>
                        </a:defRPr>
                      </a:pPr>
                      <a:r>
                        <a:t>Capturado do span manual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18/24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Demo 6 — Operando em produção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8FAD"/>
                </a:solidFill>
                <a:latin typeface="Calibri"/>
              </a:defRPr>
            </a:pPr>
            <a:r>
              <a:t>make monitoring  ·  production_monitoring.py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A8FAD"/>
                </a:solidFill>
                <a:latin typeface="Calibri"/>
              </a:defRPr>
            </a:pPr>
            <a:r>
              <a:t>📊 Sampling diferenciado por criticidade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Não traceie 100% — storage e custo importam. Use sampling_ratio_override: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@mlflow.trace(sampling_ratio_override=1.0)  # 100% — pagamentos (crítico)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@mlflow.trace(sampling_ratio_override=0.1)  # 10%  — alto volume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def agent_call(agent, query, user_id, session_id):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    return agent_invoke(agent, query, user_id, session_id)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A8FAD"/>
                </a:solidFill>
                <a:latin typeface="Calibri"/>
              </a:defRPr>
            </a:pPr>
            <a:r>
              <a:t>👍👎 Feedback humano no trace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1069848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200">
                <a:solidFill>
                  <a:srgbClr val="2D3436"/>
                </a:solidFill>
                <a:latin typeface="Consolas"/>
              </a:defRPr>
            </a:pPr>
            <a:r>
              <a:t>trace_id = mlflow.get_last_active_trace_id()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00">
                <a:solidFill>
                  <a:srgbClr val="2D3436"/>
                </a:solidFill>
                <a:latin typeface="Consolas"/>
              </a:defRPr>
            </a:pPr>
            <a:r>
              <a:t>mlflow.log_feedback(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00">
                <a:solidFill>
                  <a:srgbClr val="2D3436"/>
                </a:solidFill>
                <a:latin typeface="Consolas"/>
              </a:defRPr>
            </a:pPr>
            <a:r>
              <a:t>    trace_id=trace_id,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00">
                <a:solidFill>
                  <a:srgbClr val="2D3436"/>
                </a:solidFill>
                <a:latin typeface="Consolas"/>
              </a:defRPr>
            </a:pPr>
            <a:r>
              <a:t>    name="user_rating",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00">
                <a:solidFill>
                  <a:srgbClr val="2D3436"/>
                </a:solidFill>
                <a:latin typeface="Consolas"/>
              </a:defRPr>
            </a:pPr>
            <a:r>
              <a:t>    value=True,       # 👍 ou 👎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00">
                <a:solidFill>
                  <a:srgbClr val="2D3436"/>
                </a:solidFill>
                <a:latin typeface="Consolas"/>
              </a:defRPr>
            </a:pPr>
            <a:r>
              <a:t>    rationale="texto livre do usuário",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00">
                <a:solidFill>
                  <a:srgbClr val="2D3436"/>
                </a:solidFill>
                <a:latin typeface="Consolas"/>
              </a:defRPr>
            </a:pPr>
            <a:r>
              <a:t>    source=AssessmentSource(source_type="HUMAN"),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00">
                <a:solidFill>
                  <a:srgbClr val="2D3436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76200"/>
          <a:lstStyle/>
          <a:p>
            <a:pPr algn="ctr"/>
            <a:r>
              <a:rPr sz="1500" b="1" i="0">
                <a:solidFill>
                  <a:srgbClr val="E67E22"/>
                </a:solidFill>
                <a:latin typeface="Calibri"/>
              </a:rPr>
              <a:t>⚠️  flush_trace_async_logging() antes de search_traces()!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19/24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8FAD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20/24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O ciclo virtuoso da observabilidade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645920"/>
            <a:ext cx="292608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A8F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645920"/>
            <a:ext cx="2926080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A8FAD"/>
                </a:solidFill>
                <a:latin typeface="Calibri"/>
              </a:defRPr>
            </a:pPr>
            <a:r>
              <a:t>🔍 Tracing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60320"/>
            <a:ext cx="2743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Vejo o que</a:t>
            </a:r>
            <a:br/>
            <a:r>
              <a:t>acontece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1645920"/>
            <a:ext cx="292608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0" y="1645920"/>
            <a:ext cx="292608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92024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7AE60"/>
                </a:solidFill>
                <a:latin typeface="Calibri"/>
              </a:defRPr>
            </a:pPr>
            <a:r>
              <a:t>✅ Avaliação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60320"/>
            <a:ext cx="2743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Meço a</a:t>
            </a:r>
            <a:br/>
            <a:r>
              <a:t>qualidade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645920"/>
            <a:ext cx="292608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0" y="1645920"/>
            <a:ext cx="2926080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192024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⚡ Otimização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560320"/>
            <a:ext cx="2743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2D3436"/>
                </a:solidFill>
                <a:latin typeface="Calibri"/>
              </a:defRPr>
            </a:pPr>
            <a:r>
              <a:t>Melhoro prompts</a:t>
            </a:r>
            <a:br/>
            <a:r>
              <a:t>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4688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0">
                <a:solidFill>
                  <a:srgbClr val="1A8FAD"/>
                </a:solidFill>
                <a:latin typeface="Calibri"/>
              </a:defRPr>
            </a:pPr>
            <a:r>
              <a:t>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0">
                <a:solidFill>
                  <a:srgbClr val="1A8FAD"/>
                </a:solidFill>
                <a:latin typeface="Calibri"/>
              </a:defRPr>
            </a:pPr>
            <a:r>
              <a:t>➡️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38912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A8FAD"/>
                </a:solidFill>
                <a:latin typeface="Calibri"/>
              </a:defRPr>
            </a:pPr>
            <a:r>
              <a:t>⬆️  fecha o ciclo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Observabilidade não é só "ver logs" — é o que fecha o ciclo entre observar, medir e melhorar sua 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21/24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Checklist para levar para casa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1200"/>
              </a:spcBef>
              <a:spcAft>
                <a:spcPts val="200"/>
              </a:spcAft>
              <a:defRPr sz="1800" b="0">
                <a:solidFill>
                  <a:srgbClr val="2D3436"/>
                </a:solidFill>
                <a:latin typeface="Calibri"/>
              </a:defRPr>
            </a:pPr>
            <a:r>
              <a:t>☐  Ligue auto-tracing (mlflow.openai.autolog / mlflow.langchain.autolog)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800" b="0">
                <a:solidFill>
                  <a:srgbClr val="2D3436"/>
                </a:solidFill>
                <a:latin typeface="Calibri"/>
              </a:defRPr>
            </a:pPr>
            <a:r>
              <a:t>☐  Use spans aninhados em pipelines (RAG, agentes) para isolar a etapa que falha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800" b="0">
                <a:solidFill>
                  <a:srgbClr val="2D3436"/>
                </a:solidFill>
                <a:latin typeface="Calibri"/>
              </a:defRPr>
            </a:pPr>
            <a:r>
              <a:t>☐  Atribua custo manualmente se o modelo for self-hosted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800" b="0">
                <a:solidFill>
                  <a:srgbClr val="2D3436"/>
                </a:solidFill>
                <a:latin typeface="Calibri"/>
              </a:defRPr>
            </a:pPr>
            <a:r>
              <a:t>☐  Combine LLM judges (qualidade) + code-based scorers (regras objetivas)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800" b="0">
                <a:solidFill>
                  <a:srgbClr val="2D3436"/>
                </a:solidFill>
                <a:latin typeface="Calibri"/>
              </a:defRPr>
            </a:pPr>
            <a:r>
              <a:t>☐  Vincule user_id e session_id aos traces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800" b="0">
                <a:solidFill>
                  <a:srgbClr val="2D3436"/>
                </a:solidFill>
                <a:latin typeface="Calibri"/>
              </a:defRPr>
            </a:pPr>
            <a:r>
              <a:t>☐  Em produção: sampling por criticidade + coleta de feedback humano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800" b="0">
                <a:solidFill>
                  <a:srgbClr val="2D3436"/>
                </a:solidFill>
                <a:latin typeface="Calibri"/>
              </a:defRPr>
            </a:pPr>
            <a:r>
              <a:t>☐  Lembre do flush_trace_async_logging() antes de ler traces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22/24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D3B66"/>
                </a:solidFill>
                <a:latin typeface="Calibri"/>
              </a:defRPr>
            </a:pPr>
            <a:r>
              <a:t>Comandos para explorar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029200" cy="47548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# Setup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uv sync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# Demos (make ou uv run)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make tracing            # 01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make tokens             # 02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make judges             # 05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make langchain-agent    # 11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make monitoring         # 07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2D3436"/>
                </a:solidFill>
                <a:latin typeface="Consolas"/>
              </a:defRPr>
            </a:pPr>
            <a:r>
              <a:t>make help    # lista todas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188720"/>
            <a:ext cx="5212080" cy="22860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4846320" cy="2011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0"/>
              </a:spcBef>
              <a:spcAft>
                <a:spcPts val="200"/>
              </a:spcAft>
              <a:defRPr sz="2000" b="1">
                <a:solidFill>
                  <a:srgbClr val="0D3B66"/>
                </a:solidFill>
                <a:latin typeface="Calibri"/>
              </a:defRPr>
            </a:pPr>
            <a:r>
              <a:t>MLflow UI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1A8FAD"/>
                </a:solidFill>
                <a:latin typeface="Calibri"/>
              </a:defRPr>
            </a:pPr>
            <a:r>
              <a:t>http://localhost:5000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2D3436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spcAft>
                <a:spcPts val="200"/>
              </a:spcAft>
              <a:defRPr sz="2000" b="1">
                <a:solidFill>
                  <a:srgbClr val="0D3B66"/>
                </a:solidFill>
                <a:latin typeface="Calibri"/>
              </a:defRPr>
            </a:pPr>
            <a:r>
              <a:t>MLflow AI Gateway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1A8FAD"/>
                </a:solidFill>
                <a:latin typeface="Calibri"/>
              </a:defRPr>
            </a:pPr>
            <a:r>
              <a:t>http://localhost:5000/gateway/mlflow/v1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2D3436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spcAft>
                <a:spcPts val="200"/>
              </a:spcAft>
              <a:defRPr sz="2000" b="1">
                <a:solidFill>
                  <a:srgbClr val="0D3B66"/>
                </a:solidFill>
                <a:latin typeface="Calibri"/>
              </a:defRPr>
            </a:pPr>
            <a:r>
              <a:t>Docker Compose: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 b="0">
                <a:solidFill>
                  <a:srgbClr val="1A8FAD"/>
                </a:solidFill>
                <a:latin typeface="Calibri"/>
              </a:defRPr>
            </a:pPr>
            <a:r>
              <a:t>podman compose up -d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D3436"/>
                </a:solidFill>
                <a:latin typeface="Calibri"/>
              </a:defRPr>
            </a:pPr>
            <a:r>
              <a:t>Cada demo cria um experiment numerado no MLflow: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21208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01 - tracing_basics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02 - token_usage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05 - judges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11 - langchain_agent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2D3436"/>
                </a:solidFill>
                <a:latin typeface="Consolas"/>
              </a:defRPr>
            </a:pPr>
            <a:r>
              <a:t>07 - production_monitoring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23/24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Obrigado!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2377440"/>
            <a:ext cx="3047695" cy="27432"/>
          </a:xfrm>
          <a:prstGeom prst="rect">
            <a:avLst/>
          </a:prstGeom>
          <a:solidFill>
            <a:srgbClr val="1A8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A8FAD"/>
                </a:solidFill>
                <a:latin typeface="Calibri"/>
              </a:defRPr>
            </a:pPr>
            <a:r>
              <a:t>Referências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383280"/>
            <a:ext cx="8686800" cy="2743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📎  MLflow GenAI Docs — mlflow.org/docs/latest/genai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📎  Tracing Quickstart — mlflow.org/docs/latest/genai/tracing/quickstart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📎  Evaluation &amp; Monitoring — mlflow.org/docs/latest/genai/eval-monitor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📎  LLM Judges / Scorers — mlflow.org/docs/latest/genai/eval-monitor/scorers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📎  Production Monitoring — mlflow.org/docs/latest/genai/tracing/prod-tracing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99999"/>
                </a:solidFill>
                <a:latin typeface="Calibri"/>
              </a:defRPr>
            </a:pPr>
            <a:r>
              <a:t>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