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9D2867-446D-4011-92DC-1D6034909A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8C86D0-7EC1-482D-A91F-D461CF27E6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95A944-7BDF-4999-A1D6-06E12595A9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EAB236-E61F-4C27-BE6F-F99F477D08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865724-9FD4-48C0-96F8-3B79DE6E36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9E3BF3-2D40-4CCB-A665-F91427CB10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AFEF70-2DA6-4813-A23B-B79C054E5E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27F10A8-86A6-4451-8FCA-F46259BE0C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901E3F-4164-40DC-AA1D-2A14C487D3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7834F5-01B1-4D81-9B8C-CCB6B9ED8E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6CFA82-534A-46F4-8446-615C1C7801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Gemini_Generated_Image_6oaua56oaua56oau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70B14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0" y="0"/>
            <a:ext cx="1219140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2194560"/>
            <a:ext cx="9417960" cy="16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1371600" y="4572000"/>
            <a:ext cx="9417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8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01/23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731520" y="182880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01</a:t>
            </a:r>
            <a:endParaRPr lang="pt-B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731520" y="329184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Por que observabilidade</a:t>
            </a:r>
            <a:br>
              <a:rPr sz="3600"/>
            </a:b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em IA e importante?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731520" y="4389120"/>
            <a:ext cx="5486040" cy="25200"/>
          </a:xfrm>
          <a:prstGeom prst="rect">
            <a:avLst/>
          </a:prstGeom>
          <a:solidFill>
            <a:srgbClr val="2A30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02/23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Diferenca: software tradicional vs. IA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3"/>
          <p:cNvSpPr/>
          <p:nvPr/>
        </p:nvSpPr>
        <p:spPr>
          <a:xfrm>
            <a:off x="731520" y="1280160"/>
            <a:ext cx="10698120" cy="109692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4"/>
          <p:cNvSpPr/>
          <p:nvPr/>
        </p:nvSpPr>
        <p:spPr>
          <a:xfrm>
            <a:off x="731520" y="1280160"/>
            <a:ext cx="50400" cy="109692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5"/>
          <p:cNvSpPr/>
          <p:nvPr/>
        </p:nvSpPr>
        <p:spPr>
          <a:xfrm>
            <a:off x="1097280" y="14173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Software tradicional: mesmo input → mesmo output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Deterministico, reproduzivel, testavel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6"/>
          <p:cNvSpPr/>
          <p:nvPr/>
        </p:nvSpPr>
        <p:spPr>
          <a:xfrm>
            <a:off x="731520" y="2651760"/>
            <a:ext cx="10698120" cy="329148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Rectangle 7"/>
          <p:cNvSpPr/>
          <p:nvPr/>
        </p:nvSpPr>
        <p:spPr>
          <a:xfrm>
            <a:off x="731520" y="2651760"/>
            <a:ext cx="50400" cy="329148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8"/>
          <p:cNvSpPr/>
          <p:nvPr/>
        </p:nvSpPr>
        <p:spPr>
          <a:xfrm>
            <a:off x="1097280" y="2834640"/>
            <a:ext cx="987516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Com LLMs isso quebra: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Nao-determinismo — mesmo prompt, respostas diferentes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Caixa-preta — nao ve por que o modelo respondeu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Falha silenciosa — alucina com confianca e devolve HTTP 200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Custo variavel — tokens se multiplicam em escala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Pipelines complexos — RAG + tools + LLM: qual etapa falhou?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03/23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 que e observabilidade em IA?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3"/>
          <p:cNvSpPr/>
          <p:nvPr/>
        </p:nvSpPr>
        <p:spPr>
          <a:xfrm>
            <a:off x="731520" y="1188720"/>
            <a:ext cx="10698120" cy="100548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Rectangle 4"/>
          <p:cNvSpPr/>
          <p:nvPr/>
        </p:nvSpPr>
        <p:spPr>
          <a:xfrm>
            <a:off x="731520" y="1188720"/>
            <a:ext cx="1069812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280160" y="137160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Capacidade de entender o estado interno de uma aplicacao de IA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atraves de traces, tokens/custo, latencia e qualidade das respostas.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6"/>
          <p:cNvSpPr/>
          <p:nvPr/>
        </p:nvSpPr>
        <p:spPr>
          <a:xfrm>
            <a:off x="731520" y="2560320"/>
            <a:ext cx="548280" cy="54828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777240" y="26366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70B14"/>
                </a:solidFill>
                <a:effectLst/>
                <a:uFillTx/>
                <a:latin typeface="Calibri"/>
              </a:rPr>
              <a:t>01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1554480" y="25858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Requisicao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9"/>
          <p:cNvSpPr/>
          <p:nvPr/>
        </p:nvSpPr>
        <p:spPr>
          <a:xfrm>
            <a:off x="1554480" y="28530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O input chega na aplicacao LLM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10"/>
          <p:cNvSpPr/>
          <p:nvPr/>
        </p:nvSpPr>
        <p:spPr>
          <a:xfrm>
            <a:off x="731520" y="3611880"/>
            <a:ext cx="548280" cy="54828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11"/>
          <p:cNvSpPr/>
          <p:nvPr/>
        </p:nvSpPr>
        <p:spPr>
          <a:xfrm>
            <a:off x="777240" y="368820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70B14"/>
                </a:solidFill>
                <a:effectLst/>
                <a:uFillTx/>
                <a:latin typeface="Calibri"/>
              </a:rPr>
              <a:t>02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2"/>
          <p:cNvSpPr/>
          <p:nvPr/>
        </p:nvSpPr>
        <p:spPr>
          <a:xfrm>
            <a:off x="1554480" y="36374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Trace completo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3"/>
          <p:cNvSpPr/>
          <p:nvPr/>
        </p:nvSpPr>
        <p:spPr>
          <a:xfrm>
            <a:off x="1554480" y="3904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Inputs, outputs, latencia de cada passo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4"/>
          <p:cNvSpPr/>
          <p:nvPr/>
        </p:nvSpPr>
        <p:spPr>
          <a:xfrm>
            <a:off x="731520" y="4663440"/>
            <a:ext cx="548280" cy="548280"/>
          </a:xfrm>
          <a:prstGeom prst="rect">
            <a:avLst/>
          </a:prstGeom>
          <a:solidFill>
            <a:srgbClr val="00F5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15"/>
          <p:cNvSpPr/>
          <p:nvPr/>
        </p:nvSpPr>
        <p:spPr>
          <a:xfrm>
            <a:off x="777240" y="47397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70B14"/>
                </a:solidFill>
                <a:effectLst/>
                <a:uFillTx/>
                <a:latin typeface="Calibri"/>
              </a:rPr>
              <a:t>03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6"/>
          <p:cNvSpPr/>
          <p:nvPr/>
        </p:nvSpPr>
        <p:spPr>
          <a:xfrm>
            <a:off x="1554480" y="46890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Analise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7"/>
          <p:cNvSpPr/>
          <p:nvPr/>
        </p:nvSpPr>
        <p:spPr>
          <a:xfrm>
            <a:off x="1554480" y="495612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Tokens, custo, score de qualidade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18"/>
          <p:cNvSpPr/>
          <p:nvPr/>
        </p:nvSpPr>
        <p:spPr>
          <a:xfrm>
            <a:off x="731520" y="5760720"/>
            <a:ext cx="10698120" cy="594000"/>
          </a:xfrm>
          <a:prstGeom prst="rect">
            <a:avLst/>
          </a:prstGeom>
          <a:solidFill>
            <a:srgbClr val="181E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19"/>
          <p:cNvSpPr/>
          <p:nvPr/>
        </p:nvSpPr>
        <p:spPr>
          <a:xfrm>
            <a:off x="731520" y="5760720"/>
            <a:ext cx="50400" cy="594000"/>
          </a:xfrm>
          <a:prstGeom prst="rect">
            <a:avLst/>
          </a:prstGeom>
          <a:solidFill>
            <a:srgbClr val="FF00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0"/>
          <p:cNvSpPr/>
          <p:nvPr/>
        </p:nvSpPr>
        <p:spPr>
          <a:xfrm>
            <a:off x="1097280" y="5852160"/>
            <a:ext cx="9600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Sem observabilidade, melhorar IA e chute. Com ela, vira engenharia.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1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04/23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1219140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731520" y="182880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02</a:t>
            </a:r>
            <a:endParaRPr lang="pt-B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731520" y="329184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Caso de uso e o problema</a:t>
            </a:r>
            <a:br>
              <a:rPr sz="3600"/>
            </a:b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que ela resolve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4"/>
          <p:cNvSpPr/>
          <p:nvPr/>
        </p:nvSpPr>
        <p:spPr>
          <a:xfrm>
            <a:off x="731520" y="4389120"/>
            <a:ext cx="5486040" cy="25200"/>
          </a:xfrm>
          <a:prstGeom prst="rect">
            <a:avLst/>
          </a:prstGeom>
          <a:solidFill>
            <a:srgbClr val="2A30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05/23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 cenario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3"/>
          <p:cNvSpPr/>
          <p:nvPr/>
        </p:nvSpPr>
        <p:spPr>
          <a:xfrm>
            <a:off x="731520" y="1188720"/>
            <a:ext cx="10698120" cy="13712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4"/>
          <p:cNvSpPr/>
          <p:nvPr/>
        </p:nvSpPr>
        <p:spPr>
          <a:xfrm>
            <a:off x="731520" y="1188720"/>
            <a:ext cx="50400" cy="137124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5"/>
          <p:cNvSpPr/>
          <p:nvPr/>
        </p:nvSpPr>
        <p:spPr>
          <a:xfrm>
            <a:off x="1280160" y="13716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"Um cliente reclamou que o bot deu uma resposta errada as 14h32. O time nao consegue reproduzir.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A conta de inferencia triplicou no mes. Ninguem sabe qual ferramenta esta lenta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nem qual versao do prompt esta no ar."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6"/>
          <p:cNvSpPr/>
          <p:nvPr/>
        </p:nvSpPr>
        <p:spPr>
          <a:xfrm>
            <a:off x="731520" y="2834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Sem observabilidade, cada pergunta e impossivel de responder: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7"/>
          <p:cNvSpPr/>
          <p:nvPr/>
        </p:nvSpPr>
        <p:spPr>
          <a:xfrm>
            <a:off x="731520" y="3291840"/>
            <a:ext cx="1069812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▸  O que o usuario enviou e o que o modelo respondeu?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▸  Qual ferramenta o agente chamou? Ela falhou ou demorou?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▸  Por que a conta de tokens explodiu?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▸  Essa resposta estava certa? Quantas estao erradas?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▸  Qual versao do prompt gerou essa resposta?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▸  Auditar 100% de pagamentos, mas so 10% do resto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8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06/23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 que cada problema resolve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3"/>
          <p:cNvGraphicFramePr/>
          <p:nvPr/>
        </p:nvGraphicFramePr>
        <p:xfrm>
          <a:off x="731520" y="1280160"/>
          <a:ext cx="10698120" cy="4571640"/>
        </p:xfrm>
        <a:graphic>
          <a:graphicData uri="http://schemas.openxmlformats.org/drawingml/2006/table">
            <a:tbl>
              <a:tblPr/>
              <a:tblGrid>
                <a:gridCol w="6858000"/>
                <a:gridCol w="3840480"/>
              </a:tblGrid>
              <a:tr h="65304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070B14"/>
                          </a:solidFill>
                          <a:effectLst/>
                          <a:uFillTx/>
                          <a:latin typeface="Calibri"/>
                        </a:rPr>
                        <a:t>Pergunta do time</a:t>
                      </a:r>
                      <a:endParaRPr lang="pt-BR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070B14"/>
                          </a:solidFill>
                          <a:effectLst/>
                          <a:uFillTx/>
                          <a:latin typeface="Calibri"/>
                        </a:rPr>
                        <a:t>O que resolve</a:t>
                      </a:r>
                      <a:endParaRPr lang="pt-BR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D4FF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O que o usuario enviou e o que o modelo respondeu?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Tracing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Qual ferramenta o agente chamou? Falhou ou demorou?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Spans de tool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Por que a conta de tokens explodiu?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Token usage + custo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Essa resposta estava certa? Quantas estao erradas?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Avaliacao / Judges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Qual versao do prompt gerou isso?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Prompt registry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Auditar 100% de pagamentos, so 10% do resto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Sampling</a:t>
                      </a:r>
                      <a:endParaRPr lang="pt-BR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</a:tr>
            </a:tbl>
          </a:graphicData>
        </a:graphic>
      </p:graphicFrame>
      <p:sp>
        <p:nvSpPr>
          <p:cNvPr id="118" name="TextBox 4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07/23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Como uma tool lenta aparece num trace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3"/>
          <p:cNvSpPr/>
          <p:nvPr/>
        </p:nvSpPr>
        <p:spPr>
          <a:xfrm>
            <a:off x="731520" y="1188720"/>
            <a:ext cx="10698120" cy="228564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@tool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def check_inventory(product: str) -&gt; str: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"""Consulta o estoque disponivel de um produto."""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# Simula latencia alta seguida de falha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time.sleep(2.5)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return f"ERRO: Timeout ao consultar estoque do produto '{product}'"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4"/>
          <p:cNvSpPr/>
          <p:nvPr/>
        </p:nvSpPr>
        <p:spPr>
          <a:xfrm>
            <a:off x="731520" y="3840480"/>
            <a:ext cx="10698120" cy="9140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5"/>
          <p:cNvSpPr/>
          <p:nvPr/>
        </p:nvSpPr>
        <p:spPr>
          <a:xfrm>
            <a:off x="731520" y="3840480"/>
            <a:ext cx="50400" cy="91404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1097280" y="40233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No MLflow UI, time.sleep(2.5) vira um span visivel de 2,5s — o gargalo fica mensuravel, nao um misterio.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7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08/23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0" y="0"/>
            <a:ext cx="1219140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2"/>
          <p:cNvSpPr/>
          <p:nvPr/>
        </p:nvSpPr>
        <p:spPr>
          <a:xfrm>
            <a:off x="731520" y="182880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03</a:t>
            </a:r>
            <a:endParaRPr lang="pt-B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731520" y="329184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Os 4 pilares da</a:t>
            </a:r>
            <a:br>
              <a:rPr sz="3600"/>
            </a:b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observabilidade de LLM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4"/>
          <p:cNvSpPr/>
          <p:nvPr/>
        </p:nvSpPr>
        <p:spPr>
          <a:xfrm>
            <a:off x="731520" y="4389120"/>
            <a:ext cx="5486040" cy="25200"/>
          </a:xfrm>
          <a:prstGeom prst="rect">
            <a:avLst/>
          </a:prstGeom>
          <a:solidFill>
            <a:srgbClr val="2A30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5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09/23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pilares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3"/>
          <p:cNvSpPr/>
          <p:nvPr/>
        </p:nvSpPr>
        <p:spPr>
          <a:xfrm>
            <a:off x="746640" y="1463040"/>
            <a:ext cx="2468520" cy="438876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4"/>
          <p:cNvSpPr/>
          <p:nvPr/>
        </p:nvSpPr>
        <p:spPr>
          <a:xfrm>
            <a:off x="746640" y="1463040"/>
            <a:ext cx="246852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929520" y="18288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TRACING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6"/>
          <p:cNvSpPr/>
          <p:nvPr/>
        </p:nvSpPr>
        <p:spPr>
          <a:xfrm>
            <a:off x="1203840" y="2377440"/>
            <a:ext cx="1554120" cy="12240"/>
          </a:xfrm>
          <a:prstGeom prst="rect">
            <a:avLst/>
          </a:prstGeom>
          <a:solidFill>
            <a:srgbClr val="3A40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929520" y="2651760"/>
            <a:ext cx="21027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Registra cada passo da execucao:</a:t>
            </a:r>
            <a:br>
              <a:rPr sz="1400"/>
            </a:b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inputs, outputs, latencia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8"/>
          <p:cNvSpPr/>
          <p:nvPr/>
        </p:nvSpPr>
        <p:spPr>
          <a:xfrm>
            <a:off x="3489840" y="1463040"/>
            <a:ext cx="2468520" cy="438876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Rectangle 9"/>
          <p:cNvSpPr/>
          <p:nvPr/>
        </p:nvSpPr>
        <p:spPr>
          <a:xfrm>
            <a:off x="3489840" y="1463040"/>
            <a:ext cx="2468520" cy="504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3672720" y="18288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CUSTO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11"/>
          <p:cNvSpPr/>
          <p:nvPr/>
        </p:nvSpPr>
        <p:spPr>
          <a:xfrm>
            <a:off x="3947040" y="2377440"/>
            <a:ext cx="1554120" cy="12240"/>
          </a:xfrm>
          <a:prstGeom prst="rect">
            <a:avLst/>
          </a:prstGeom>
          <a:solidFill>
            <a:srgbClr val="3A40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12"/>
          <p:cNvSpPr/>
          <p:nvPr/>
        </p:nvSpPr>
        <p:spPr>
          <a:xfrm>
            <a:off x="3672720" y="2651760"/>
            <a:ext cx="21027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Quanto cada chamada consome</a:t>
            </a:r>
            <a:br>
              <a:rPr sz="1400"/>
            </a:b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e quanto custa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13"/>
          <p:cNvSpPr/>
          <p:nvPr/>
        </p:nvSpPr>
        <p:spPr>
          <a:xfrm>
            <a:off x="6233040" y="1463040"/>
            <a:ext cx="2468520" cy="438876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14"/>
          <p:cNvSpPr/>
          <p:nvPr/>
        </p:nvSpPr>
        <p:spPr>
          <a:xfrm>
            <a:off x="6233040" y="1463040"/>
            <a:ext cx="2468520" cy="50400"/>
          </a:xfrm>
          <a:prstGeom prst="rect">
            <a:avLst/>
          </a:prstGeom>
          <a:solidFill>
            <a:srgbClr val="00F5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5"/>
          <p:cNvSpPr/>
          <p:nvPr/>
        </p:nvSpPr>
        <p:spPr>
          <a:xfrm>
            <a:off x="6415920" y="18288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F5A0"/>
                </a:solidFill>
                <a:effectLst/>
                <a:uFillTx/>
                <a:latin typeface="Calibri"/>
              </a:rPr>
              <a:t>AVALIACAO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16"/>
          <p:cNvSpPr/>
          <p:nvPr/>
        </p:nvSpPr>
        <p:spPr>
          <a:xfrm>
            <a:off x="6690240" y="2377440"/>
            <a:ext cx="1554120" cy="12240"/>
          </a:xfrm>
          <a:prstGeom prst="rect">
            <a:avLst/>
          </a:prstGeom>
          <a:solidFill>
            <a:srgbClr val="3A40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17"/>
          <p:cNvSpPr/>
          <p:nvPr/>
        </p:nvSpPr>
        <p:spPr>
          <a:xfrm>
            <a:off x="6415920" y="2651760"/>
            <a:ext cx="21027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Mede a qualidade com judges</a:t>
            </a:r>
            <a:br>
              <a:rPr sz="1400"/>
            </a:b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e code-based scorers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18"/>
          <p:cNvSpPr/>
          <p:nvPr/>
        </p:nvSpPr>
        <p:spPr>
          <a:xfrm>
            <a:off x="8976240" y="1463040"/>
            <a:ext cx="2468520" cy="438876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19"/>
          <p:cNvSpPr/>
          <p:nvPr/>
        </p:nvSpPr>
        <p:spPr>
          <a:xfrm>
            <a:off x="8976240" y="1463040"/>
            <a:ext cx="2468520" cy="50400"/>
          </a:xfrm>
          <a:prstGeom prst="rect">
            <a:avLst/>
          </a:prstGeom>
          <a:solidFill>
            <a:srgbClr val="FF00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0"/>
          <p:cNvSpPr/>
          <p:nvPr/>
        </p:nvSpPr>
        <p:spPr>
          <a:xfrm>
            <a:off x="9159120" y="182880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PRODUCAO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21"/>
          <p:cNvSpPr/>
          <p:nvPr/>
        </p:nvSpPr>
        <p:spPr>
          <a:xfrm>
            <a:off x="9433440" y="2377440"/>
            <a:ext cx="1554120" cy="12240"/>
          </a:xfrm>
          <a:prstGeom prst="rect">
            <a:avLst/>
          </a:prstGeom>
          <a:solidFill>
            <a:srgbClr val="3A40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2"/>
          <p:cNvSpPr/>
          <p:nvPr/>
        </p:nvSpPr>
        <p:spPr>
          <a:xfrm>
            <a:off x="9159120" y="2651760"/>
            <a:ext cx="21027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Sampling, feedback humano,</a:t>
            </a:r>
            <a:br>
              <a:rPr sz="1400"/>
            </a:b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sessions e users em escala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23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10/23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1"/>
          <p:cNvSpPr/>
          <p:nvPr/>
        </p:nvSpPr>
        <p:spPr>
          <a:xfrm>
            <a:off x="0" y="0"/>
            <a:ext cx="1219140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731520" y="182880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04</a:t>
            </a:r>
            <a:endParaRPr lang="pt-B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731520" y="329184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Como usar — demos ao vivo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4"/>
          <p:cNvSpPr/>
          <p:nvPr/>
        </p:nvSpPr>
        <p:spPr>
          <a:xfrm>
            <a:off x="731520" y="393192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MLflow GenAI + OpenAI SDK + MLflow AI Gateway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5"/>
          <p:cNvSpPr/>
          <p:nvPr/>
        </p:nvSpPr>
        <p:spPr>
          <a:xfrm>
            <a:off x="731520" y="4389120"/>
            <a:ext cx="5486040" cy="25200"/>
          </a:xfrm>
          <a:prstGeom prst="rect">
            <a:avLst/>
          </a:prstGeom>
          <a:solidFill>
            <a:srgbClr val="2A30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6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11/23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1 — Tracing em 1 linha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3"/>
          <p:cNvSpPr/>
          <p:nvPr/>
        </p:nvSpPr>
        <p:spPr>
          <a:xfrm>
            <a:off x="731520" y="1005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make tracing  ·  tracing_basics.py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4"/>
          <p:cNvSpPr/>
          <p:nvPr/>
        </p:nvSpPr>
        <p:spPr>
          <a:xfrm>
            <a:off x="731520" y="1554480"/>
            <a:ext cx="10698120" cy="146268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import mlflow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mlflow.openai.autolog()   # &lt;- 1 linha instrumenta todas as chamadas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client = get_client()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response = client.chat.completions.create(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model=MODEL_NAME, messages=[...],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5"/>
          <p:cNvSpPr/>
          <p:nvPr/>
        </p:nvSpPr>
        <p:spPr>
          <a:xfrm>
            <a:off x="731520" y="3383280"/>
            <a:ext cx="106981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7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Captura inputs, outputs, tokens e latencia automaticamente</a:t>
            </a:r>
            <a:endParaRPr lang="pt-B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7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Sem nenhuma instrumentacao manual</a:t>
            </a:r>
            <a:endParaRPr lang="pt-B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7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Abra o trace no MLflow UI e veja tudo pronto</a:t>
            </a:r>
            <a:endParaRPr lang="pt-B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Gotcha: flush_trace_async_logging() antes de search_traces()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6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12/23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2 — Pipelines complexos: spans aninhados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731520" y="1005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make tracing  ·  tracing_basics.py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4"/>
          <p:cNvSpPr/>
          <p:nvPr/>
        </p:nvSpPr>
        <p:spPr>
          <a:xfrm>
            <a:off x="731520" y="1554480"/>
            <a:ext cx="10698120" cy="255996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@mlflow.trace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def demo_rag_pipeline(question: str) -&gt; str: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context = retrieve_context(question)        # span filho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answer = generate_answer(question, context) # span filho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return answer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@mlflow.trace(span_type="RETRIEVER")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def retrieve_context(question: str) -&gt; str: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...  # busca em vector store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@mlflow.trace(span_type="LLM")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def generate_answer(question: str, context: str) -&gt; str: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3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...  # chamada ao LLM com o contexto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731520" y="4480560"/>
            <a:ext cx="10698120" cy="9140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ectangle 6"/>
          <p:cNvSpPr/>
          <p:nvPr/>
        </p:nvSpPr>
        <p:spPr>
          <a:xfrm>
            <a:off x="731520" y="4480560"/>
            <a:ext cx="50400" cy="91404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7"/>
          <p:cNvSpPr/>
          <p:nvPr/>
        </p:nvSpPr>
        <p:spPr>
          <a:xfrm>
            <a:off x="1097280" y="46634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Resposta errada? O trace mostra: foi o retrieval (contexto ruim) ou a geracao (modelo)?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8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13/23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3 — Quanto isso custa?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731520" y="1005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make tokens  ·  token_usage.py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4"/>
          <p:cNvSpPr/>
          <p:nvPr/>
        </p:nvSpPr>
        <p:spPr>
          <a:xfrm>
            <a:off x="731520" y="1554480"/>
            <a:ext cx="5120280" cy="18284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Rectangle 5"/>
          <p:cNvSpPr/>
          <p:nvPr/>
        </p:nvSpPr>
        <p:spPr>
          <a:xfrm>
            <a:off x="731520" y="1554480"/>
            <a:ext cx="50400" cy="1828440"/>
          </a:xfrm>
          <a:prstGeom prst="rect">
            <a:avLst/>
          </a:prstGeom>
          <a:solidFill>
            <a:srgbClr val="00F5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1280160" y="1737360"/>
            <a:ext cx="47545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00F5A0"/>
                </a:solidFill>
                <a:effectLst/>
                <a:uFillTx/>
                <a:latin typeface="Calibri"/>
              </a:rPr>
              <a:t>MLflow calcula custo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600" b="1" u="none" strike="noStrike">
                <a:solidFill>
                  <a:srgbClr val="00F5A0"/>
                </a:solidFill>
                <a:effectLst/>
                <a:uFillTx/>
                <a:latin typeface="Calibri"/>
              </a:rPr>
              <a:t>automatico para OpenAI,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600" b="1" u="none" strike="noStrike">
                <a:solidFill>
                  <a:srgbClr val="00F5A0"/>
                </a:solidFill>
                <a:effectLst/>
                <a:uFillTx/>
                <a:latin typeface="Calibri"/>
              </a:rPr>
              <a:t>Anthropic e outros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7"/>
          <p:cNvSpPr/>
          <p:nvPr/>
        </p:nvSpPr>
        <p:spPr>
          <a:xfrm>
            <a:off x="6217920" y="1554480"/>
            <a:ext cx="5120280" cy="18284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Rectangle 8"/>
          <p:cNvSpPr/>
          <p:nvPr/>
        </p:nvSpPr>
        <p:spPr>
          <a:xfrm>
            <a:off x="6217920" y="1554480"/>
            <a:ext cx="50400" cy="1828440"/>
          </a:xfrm>
          <a:prstGeom prst="rect">
            <a:avLst/>
          </a:prstGeom>
          <a:solidFill>
            <a:srgbClr val="FF00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9"/>
          <p:cNvSpPr/>
          <p:nvPr/>
        </p:nvSpPr>
        <p:spPr>
          <a:xfrm>
            <a:off x="6583680" y="1737360"/>
            <a:ext cx="45716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Para self-hosted: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6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atribua custo manualmente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6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no span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0"/>
          <p:cNvSpPr/>
          <p:nvPr/>
        </p:nvSpPr>
        <p:spPr>
          <a:xfrm>
            <a:off x="731520" y="3749040"/>
            <a:ext cx="10698120" cy="164556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span.set_attribute("mlflow.llm.cost", {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"input_cost": input_tokens * CUSTOM_INPUT_COST,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"output_cost": output_tokens * CUSTOM_OUTPUT_COST,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})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1"/>
          <p:cNvSpPr/>
          <p:nvPr/>
        </p:nvSpPr>
        <p:spPr>
          <a:xfrm>
            <a:off x="731520" y="566928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Veja Cost Breakdown e Token Usage por trace no MLflow UI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14/23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4 — A resposta estava certa?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731520" y="1005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make judges  ·  judges.py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731520" y="1554480"/>
            <a:ext cx="5120280" cy="41144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Rectangle 5"/>
          <p:cNvSpPr/>
          <p:nvPr/>
        </p:nvSpPr>
        <p:spPr>
          <a:xfrm>
            <a:off x="731520" y="1554480"/>
            <a:ext cx="50400" cy="411444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6"/>
          <p:cNvSpPr/>
          <p:nvPr/>
        </p:nvSpPr>
        <p:spPr>
          <a:xfrm>
            <a:off x="1097280" y="173736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LLM Judge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7"/>
          <p:cNvSpPr/>
          <p:nvPr/>
        </p:nvSpPr>
        <p:spPr>
          <a:xfrm>
            <a:off x="1097280" y="2148840"/>
            <a:ext cx="475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Modelo julga a resposta em linguagem natural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8"/>
          <p:cNvSpPr/>
          <p:nvPr/>
        </p:nvSpPr>
        <p:spPr>
          <a:xfrm>
            <a:off x="1097280" y="2560320"/>
            <a:ext cx="4571640" cy="164556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Guidelines(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name="technical_accuracy",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guidelines=("A resposta deve ser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    tecnica e precisa."),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model=JUDGE_MODEL,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9"/>
          <p:cNvSpPr/>
          <p:nvPr/>
        </p:nvSpPr>
        <p:spPr>
          <a:xfrm>
            <a:off x="6217920" y="1554480"/>
            <a:ext cx="5120280" cy="41144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Rectangle 10"/>
          <p:cNvSpPr/>
          <p:nvPr/>
        </p:nvSpPr>
        <p:spPr>
          <a:xfrm>
            <a:off x="6217920" y="1554480"/>
            <a:ext cx="50400" cy="4114440"/>
          </a:xfrm>
          <a:prstGeom prst="rect">
            <a:avLst/>
          </a:prstGeom>
          <a:solidFill>
            <a:srgbClr val="00F5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11"/>
          <p:cNvSpPr/>
          <p:nvPr/>
        </p:nvSpPr>
        <p:spPr>
          <a:xfrm>
            <a:off x="6583680" y="17373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0F5A0"/>
                </a:solidFill>
                <a:effectLst/>
                <a:uFillTx/>
                <a:latin typeface="Calibri"/>
              </a:rPr>
              <a:t>Code-based Scorer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12"/>
          <p:cNvSpPr/>
          <p:nvPr/>
        </p:nvSpPr>
        <p:spPr>
          <a:xfrm>
            <a:off x="6583680" y="21488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Regra deterministica sem custo de LLM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13"/>
          <p:cNvSpPr/>
          <p:nvPr/>
        </p:nvSpPr>
        <p:spPr>
          <a:xfrm>
            <a:off x="6583680" y="2560320"/>
            <a:ext cx="4571640" cy="164556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@scorer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def no_hallucination(inputs, outputs):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red_flags = [...],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if any(f in outputs for f in red_flags):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    return Feedback(value=False)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return Feedback(value=True)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14"/>
          <p:cNvSpPr/>
          <p:nvPr/>
        </p:nvSpPr>
        <p:spPr>
          <a:xfrm>
            <a:off x="731520" y="5943600"/>
            <a:ext cx="10698120" cy="456840"/>
          </a:xfrm>
          <a:prstGeom prst="rect">
            <a:avLst/>
          </a:prstGeom>
          <a:solidFill>
            <a:srgbClr val="181E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Rectangle 15"/>
          <p:cNvSpPr/>
          <p:nvPr/>
        </p:nvSpPr>
        <p:spPr>
          <a:xfrm>
            <a:off x="731520" y="5943600"/>
            <a:ext cx="50400" cy="45684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16"/>
          <p:cNvSpPr/>
          <p:nvPr/>
        </p:nvSpPr>
        <p:spPr>
          <a:xfrm>
            <a:off x="1097280" y="5989320"/>
            <a:ext cx="9600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Combine os dois: LLM judges para qualidade subjetiva + scorers para regras objetivas sem custo.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17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15/23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5 — Agente real com streaming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731520" y="1005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make langchain-agent  ·  langchain_agent.py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4"/>
          <p:cNvSpPr/>
          <p:nvPr/>
        </p:nvSpPr>
        <p:spPr>
          <a:xfrm>
            <a:off x="731520" y="1463040"/>
            <a:ext cx="2559960" cy="365400"/>
          </a:xfrm>
          <a:prstGeom prst="rect">
            <a:avLst/>
          </a:prstGeom>
          <a:solidFill>
            <a:srgbClr val="181E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Rectangle 5"/>
          <p:cNvSpPr/>
          <p:nvPr/>
        </p:nvSpPr>
        <p:spPr>
          <a:xfrm>
            <a:off x="731520" y="1463040"/>
            <a:ext cx="50400" cy="365400"/>
          </a:xfrm>
          <a:prstGeom prst="rect">
            <a:avLst/>
          </a:prstGeom>
          <a:solidFill>
            <a:srgbClr val="FF00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731520" y="15361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PROD</a:t>
            </a:r>
            <a:endParaRPr lang="pt-B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7"/>
          <p:cNvSpPr/>
          <p:nvPr/>
        </p:nvSpPr>
        <p:spPr>
          <a:xfrm>
            <a:off x="1554480" y="155448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Mesmo padrao do backend de producao keepee-rag RAG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8"/>
          <p:cNvSpPr/>
          <p:nvPr/>
        </p:nvSpPr>
        <p:spPr>
          <a:xfrm>
            <a:off x="731520" y="2194560"/>
            <a:ext cx="1069812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▸  agent.astream() — streaming token a token em tempo real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▸  Span manual SpanType.AGENT com inputs/outputs explicitos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▸  Session em dict (reconstrucao manual do historico)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get_stream_writer() para logs de progresso das tools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Eventos JSON newline-delimited via make_event()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trace_id capturado do span e exposto para feedback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User/session vinculados ao trace ANTES do stream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▸  Tags (provider, model_name) setadas apos o stream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16/23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autolog vs. Manual Span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4" name="Table 3"/>
          <p:cNvGraphicFramePr/>
          <p:nvPr/>
        </p:nvGraphicFramePr>
        <p:xfrm>
          <a:off x="731520" y="1280160"/>
          <a:ext cx="10698120" cy="457164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297680"/>
              </a:tblGrid>
              <a:tr h="65304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70B14"/>
                          </a:solidFill>
                          <a:effectLst/>
                          <a:uFillTx/>
                          <a:latin typeface="Calibri"/>
                        </a:rPr>
                        <a:t>Aspecto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70B14"/>
                          </a:solidFill>
                          <a:effectLst/>
                          <a:uFillTx/>
                          <a:latin typeface="Calibri"/>
                        </a:rPr>
                        <a:t>autolog()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70B14"/>
                          </a:solidFill>
                          <a:effectLst/>
                          <a:uFillTx/>
                          <a:latin typeface="Calibri"/>
                        </a:rPr>
                        <a:t>Producao (manual span)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D4FF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Streaming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invoke() bloqueante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F5A0"/>
                          </a:solidFill>
                          <a:effectLst/>
                          <a:uFillTx/>
                          <a:latin typeface="Calibri"/>
                        </a:rPr>
                        <a:t>astream() token a token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Session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MemorySaver (checkpointer)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F5A0"/>
                          </a:solidFill>
                          <a:effectLst/>
                          <a:uFillTx/>
                          <a:latin typeface="Calibri"/>
                        </a:rPr>
                        <a:t>Dict (reconstrucao manual)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Controle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Automatico (generico)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F5A0"/>
                          </a:solidFill>
                          <a:effectLst/>
                          <a:uFillTx/>
                          <a:latin typeface="Calibri"/>
                        </a:rPr>
                        <a:t>Inputs/outputs explicitos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Progresso tools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So o resultado final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F5A0"/>
                          </a:solidFill>
                          <a:effectLst/>
                          <a:uFillTx/>
                          <a:latin typeface="Calibri"/>
                        </a:rPr>
                        <a:t>Logs via get_stream_writer()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Eventos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Apenas no trace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F5A0"/>
                          </a:solidFill>
                          <a:effectLst/>
                          <a:uFillTx/>
                          <a:latin typeface="Calibri"/>
                        </a:rPr>
                        <a:t>JSON newline-delimited (SSE)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21728"/>
                    </a:solidFill>
                  </a:tcPr>
                </a:tc>
              </a:tr>
              <a:tr h="6530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00D4FF"/>
                          </a:solidFill>
                          <a:effectLst/>
                          <a:uFillTx/>
                          <a:latin typeface="Calibri"/>
                        </a:rPr>
                        <a:t>trace_id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E8EAED"/>
                          </a:solidFill>
                          <a:effectLst/>
                          <a:uFillTx/>
                          <a:latin typeface="Calibri"/>
                        </a:rPr>
                        <a:t>get_last_active_trace_id()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00F5A0"/>
                          </a:solidFill>
                          <a:effectLst/>
                          <a:uFillTx/>
                          <a:latin typeface="Calibri"/>
                        </a:rPr>
                        <a:t>Capturado do span manual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1E30"/>
                    </a:solidFill>
                  </a:tcPr>
                </a:tc>
              </a:tr>
            </a:tbl>
          </a:graphicData>
        </a:graphic>
      </p:graphicFrame>
      <p:sp>
        <p:nvSpPr>
          <p:cNvPr id="215" name="TextBox 4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17/23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6 — Operando em producao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3"/>
          <p:cNvSpPr/>
          <p:nvPr/>
        </p:nvSpPr>
        <p:spPr>
          <a:xfrm>
            <a:off x="731520" y="1005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make monitoring  ·  production_monitoring.py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Rectangle 4"/>
          <p:cNvSpPr/>
          <p:nvPr/>
        </p:nvSpPr>
        <p:spPr>
          <a:xfrm>
            <a:off x="731520" y="1554480"/>
            <a:ext cx="5120280" cy="22856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Rectangle 5"/>
          <p:cNvSpPr/>
          <p:nvPr/>
        </p:nvSpPr>
        <p:spPr>
          <a:xfrm>
            <a:off x="731520" y="1554480"/>
            <a:ext cx="50400" cy="228564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6"/>
          <p:cNvSpPr/>
          <p:nvPr/>
        </p:nvSpPr>
        <p:spPr>
          <a:xfrm>
            <a:off x="1097280" y="17373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Sampling por criticidade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7"/>
          <p:cNvSpPr/>
          <p:nvPr/>
        </p:nvSpPr>
        <p:spPr>
          <a:xfrm>
            <a:off x="1097280" y="21031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Nao traceie 100% — storage e custo importam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 8"/>
          <p:cNvSpPr/>
          <p:nvPr/>
        </p:nvSpPr>
        <p:spPr>
          <a:xfrm>
            <a:off x="1097280" y="2468880"/>
            <a:ext cx="4571640" cy="109692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@mlflow.trace(sampling_ratio_override=1.0)  # 100% critico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@mlflow.trace(sampling_ratio_override=0.1)  # 10% volume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def agent_call(...)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9"/>
          <p:cNvSpPr/>
          <p:nvPr/>
        </p:nvSpPr>
        <p:spPr>
          <a:xfrm>
            <a:off x="6217920" y="1554480"/>
            <a:ext cx="5120280" cy="228564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10"/>
          <p:cNvSpPr/>
          <p:nvPr/>
        </p:nvSpPr>
        <p:spPr>
          <a:xfrm>
            <a:off x="6217920" y="1554480"/>
            <a:ext cx="50400" cy="228564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1"/>
          <p:cNvSpPr/>
          <p:nvPr/>
        </p:nvSpPr>
        <p:spPr>
          <a:xfrm>
            <a:off x="6583680" y="17373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Feedback humano no trace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2"/>
          <p:cNvSpPr/>
          <p:nvPr/>
        </p:nvSpPr>
        <p:spPr>
          <a:xfrm>
            <a:off x="6583680" y="2194560"/>
            <a:ext cx="4571640" cy="137124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trace_id = get_last_active_trace_id()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mlflow.log_feedback(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trace_id=trace_id,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name="user_rating",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value=True,  # like/dislike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    rationale="texto do usuario",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2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31520" y="4389120"/>
            <a:ext cx="10698120" cy="456840"/>
          </a:xfrm>
          <a:prstGeom prst="rect">
            <a:avLst/>
          </a:prstGeom>
          <a:solidFill>
            <a:srgbClr val="181E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Rectangle 14"/>
          <p:cNvSpPr/>
          <p:nvPr/>
        </p:nvSpPr>
        <p:spPr>
          <a:xfrm>
            <a:off x="731520" y="4389120"/>
            <a:ext cx="50400" cy="456840"/>
          </a:xfrm>
          <a:prstGeom prst="rect">
            <a:avLst/>
          </a:prstGeom>
          <a:solidFill>
            <a:srgbClr val="FF006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Box 15"/>
          <p:cNvSpPr/>
          <p:nvPr/>
        </p:nvSpPr>
        <p:spPr>
          <a:xfrm>
            <a:off x="1097280" y="445320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006E"/>
                </a:solidFill>
                <a:effectLst/>
                <a:uFillTx/>
                <a:latin typeface="Calibri"/>
              </a:rPr>
              <a:t>flush_trace_async_logging() antes de search_traces()!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6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18/23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1"/>
          <p:cNvSpPr/>
          <p:nvPr/>
        </p:nvSpPr>
        <p:spPr>
          <a:xfrm>
            <a:off x="0" y="0"/>
            <a:ext cx="1219140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2"/>
          <p:cNvSpPr/>
          <p:nvPr/>
        </p:nvSpPr>
        <p:spPr>
          <a:xfrm>
            <a:off x="731520" y="182880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05</a:t>
            </a:r>
            <a:endParaRPr lang="pt-BR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3"/>
          <p:cNvSpPr/>
          <p:nvPr/>
        </p:nvSpPr>
        <p:spPr>
          <a:xfrm>
            <a:off x="731520" y="3291840"/>
            <a:ext cx="9143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Fechamento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4"/>
          <p:cNvSpPr/>
          <p:nvPr/>
        </p:nvSpPr>
        <p:spPr>
          <a:xfrm>
            <a:off x="731520" y="4389120"/>
            <a:ext cx="5486040" cy="25200"/>
          </a:xfrm>
          <a:prstGeom prst="rect">
            <a:avLst/>
          </a:prstGeom>
          <a:solidFill>
            <a:srgbClr val="2A30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5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19/23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 ciclo virtuoso da observabilidade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3"/>
          <p:cNvSpPr/>
          <p:nvPr/>
        </p:nvSpPr>
        <p:spPr>
          <a:xfrm>
            <a:off x="1158120" y="1645920"/>
            <a:ext cx="2925720" cy="292572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Rectangle 4"/>
          <p:cNvSpPr/>
          <p:nvPr/>
        </p:nvSpPr>
        <p:spPr>
          <a:xfrm>
            <a:off x="1158120" y="1645920"/>
            <a:ext cx="2925720" cy="504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5"/>
          <p:cNvSpPr/>
          <p:nvPr/>
        </p:nvSpPr>
        <p:spPr>
          <a:xfrm>
            <a:off x="1158120" y="210312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TRACING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6"/>
          <p:cNvSpPr/>
          <p:nvPr/>
        </p:nvSpPr>
        <p:spPr>
          <a:xfrm>
            <a:off x="1158120" y="2743200"/>
            <a:ext cx="29257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Vejo o que</a:t>
            </a:r>
            <a:br>
              <a:rPr sz="1600"/>
            </a:br>
            <a:r>
              <a:rPr lang="en-US" sz="16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acontece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4160520" y="2743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&gt;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8"/>
          <p:cNvSpPr/>
          <p:nvPr/>
        </p:nvSpPr>
        <p:spPr>
          <a:xfrm>
            <a:off x="4632840" y="1645920"/>
            <a:ext cx="2925720" cy="292572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Rectangle 9"/>
          <p:cNvSpPr/>
          <p:nvPr/>
        </p:nvSpPr>
        <p:spPr>
          <a:xfrm>
            <a:off x="4632840" y="1645920"/>
            <a:ext cx="2925720" cy="504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10"/>
          <p:cNvSpPr/>
          <p:nvPr/>
        </p:nvSpPr>
        <p:spPr>
          <a:xfrm>
            <a:off x="4632840" y="210312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AVALIACAO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11"/>
          <p:cNvSpPr/>
          <p:nvPr/>
        </p:nvSpPr>
        <p:spPr>
          <a:xfrm>
            <a:off x="4632840" y="2743200"/>
            <a:ext cx="29257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Meco a</a:t>
            </a:r>
            <a:br>
              <a:rPr sz="1600"/>
            </a:br>
            <a:r>
              <a:rPr lang="en-US" sz="16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qualidade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2"/>
          <p:cNvSpPr/>
          <p:nvPr/>
        </p:nvSpPr>
        <p:spPr>
          <a:xfrm>
            <a:off x="7635240" y="2743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&gt;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13"/>
          <p:cNvSpPr/>
          <p:nvPr/>
        </p:nvSpPr>
        <p:spPr>
          <a:xfrm>
            <a:off x="8107560" y="1645920"/>
            <a:ext cx="2925720" cy="2925720"/>
          </a:xfrm>
          <a:prstGeom prst="rect">
            <a:avLst/>
          </a:prstGeom>
          <a:solidFill>
            <a:srgbClr val="121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 14"/>
          <p:cNvSpPr/>
          <p:nvPr/>
        </p:nvSpPr>
        <p:spPr>
          <a:xfrm>
            <a:off x="8107560" y="1645920"/>
            <a:ext cx="2925720" cy="50400"/>
          </a:xfrm>
          <a:prstGeom prst="rect">
            <a:avLst/>
          </a:prstGeom>
          <a:solidFill>
            <a:srgbClr val="00F5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15"/>
          <p:cNvSpPr/>
          <p:nvPr/>
        </p:nvSpPr>
        <p:spPr>
          <a:xfrm>
            <a:off x="8107560" y="210312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F5A0"/>
                </a:solidFill>
                <a:effectLst/>
                <a:uFillTx/>
                <a:latin typeface="Calibri"/>
              </a:rPr>
              <a:t>OTIMIZACAO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6"/>
          <p:cNvSpPr/>
          <p:nvPr/>
        </p:nvSpPr>
        <p:spPr>
          <a:xfrm>
            <a:off x="8107560" y="2743200"/>
            <a:ext cx="29257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Melhoro prompts</a:t>
            </a:r>
            <a:br>
              <a:rPr sz="1600"/>
            </a:br>
            <a:r>
              <a:rPr lang="en-US" sz="16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e tools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7"/>
          <p:cNvSpPr/>
          <p:nvPr/>
        </p:nvSpPr>
        <p:spPr>
          <a:xfrm>
            <a:off x="4572000" y="4846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^  fecha o ciclo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18"/>
          <p:cNvSpPr/>
          <p:nvPr/>
        </p:nvSpPr>
        <p:spPr>
          <a:xfrm>
            <a:off x="731520" y="5669280"/>
            <a:ext cx="10698120" cy="594000"/>
          </a:xfrm>
          <a:prstGeom prst="rect">
            <a:avLst/>
          </a:prstGeom>
          <a:solidFill>
            <a:srgbClr val="181E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Rectangle 19"/>
          <p:cNvSpPr/>
          <p:nvPr/>
        </p:nvSpPr>
        <p:spPr>
          <a:xfrm>
            <a:off x="731520" y="5669280"/>
            <a:ext cx="50400" cy="5940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20"/>
          <p:cNvSpPr/>
          <p:nvPr/>
        </p:nvSpPr>
        <p:spPr>
          <a:xfrm>
            <a:off x="1097280" y="5760720"/>
            <a:ext cx="9600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Observabilidade nao e "ver logs" — e o que fecha o ciclo entre observar, medir e melhorar sua IA.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1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20/23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Checklist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3"/>
          <p:cNvSpPr/>
          <p:nvPr/>
        </p:nvSpPr>
        <p:spPr>
          <a:xfrm>
            <a:off x="731520" y="1280160"/>
            <a:ext cx="106981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Ligue auto-tracing (mlflow.openai.autolog)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Use spans aninhados em pipelines (RAG, agentes)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Atribua custo manualmente se self-hosted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Combine LLM judges + code-based scorers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Vincule user_id e session_id aos traces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Producao: sampling por criticidade + feedback humano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</a:pPr>
            <a:r>
              <a:rPr lang="en-US" sz="18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[ ]  flush_trace_async_logging() antes de ler traces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4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21/23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2"/>
          <p:cNvSpPr/>
          <p:nvPr/>
        </p:nvSpPr>
        <p:spPr>
          <a:xfrm>
            <a:off x="731520" y="4572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Comandos para explorar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Rectangle 3"/>
          <p:cNvSpPr/>
          <p:nvPr/>
        </p:nvSpPr>
        <p:spPr>
          <a:xfrm>
            <a:off x="731520" y="1188720"/>
            <a:ext cx="5028840" cy="502884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# Setup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uv sync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# Demos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make tracing            # 01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make tokens             # 02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make judges             # 05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make langchain-agent    # 11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make monitoring         # 07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make help    # lista todas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4"/>
          <p:cNvSpPr/>
          <p:nvPr/>
        </p:nvSpPr>
        <p:spPr>
          <a:xfrm>
            <a:off x="6217920" y="1188720"/>
            <a:ext cx="5028840" cy="255996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Rectangle 5"/>
          <p:cNvSpPr/>
          <p:nvPr/>
        </p:nvSpPr>
        <p:spPr>
          <a:xfrm>
            <a:off x="6217920" y="1188720"/>
            <a:ext cx="50400" cy="255996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6"/>
          <p:cNvSpPr/>
          <p:nvPr/>
        </p:nvSpPr>
        <p:spPr>
          <a:xfrm>
            <a:off x="6583680" y="1371600"/>
            <a:ext cx="438876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MLflow UI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http://localhost:5000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MLflow AI Gateway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http://localhost:5000/gateway/mlflow/v1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Docker Compose: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podman compose up -d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7"/>
          <p:cNvSpPr/>
          <p:nvPr/>
        </p:nvSpPr>
        <p:spPr>
          <a:xfrm>
            <a:off x="6217920" y="4114800"/>
            <a:ext cx="5028840" cy="2102760"/>
          </a:xfrm>
          <a:prstGeom prst="rect">
            <a:avLst/>
          </a:prstGeom>
          <a:solidFill>
            <a:srgbClr val="121728"/>
          </a:solidFill>
          <a:ln w="12700">
            <a:solidFill>
              <a:srgbClr val="1E243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Rectangle 8"/>
          <p:cNvSpPr/>
          <p:nvPr/>
        </p:nvSpPr>
        <p:spPr>
          <a:xfrm>
            <a:off x="6217920" y="4114800"/>
            <a:ext cx="50400" cy="210276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9"/>
          <p:cNvSpPr/>
          <p:nvPr/>
        </p:nvSpPr>
        <p:spPr>
          <a:xfrm>
            <a:off x="6583680" y="4206240"/>
            <a:ext cx="4388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7C3AED"/>
                </a:solidFill>
                <a:effectLst/>
                <a:uFillTx/>
                <a:latin typeface="Calibri"/>
              </a:rPr>
              <a:t>Experiments: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10"/>
          <p:cNvSpPr/>
          <p:nvPr/>
        </p:nvSpPr>
        <p:spPr>
          <a:xfrm>
            <a:off x="6583680" y="4572000"/>
            <a:ext cx="4388760" cy="1371240"/>
          </a:xfrm>
          <a:prstGeom prst="rect">
            <a:avLst/>
          </a:prstGeom>
          <a:solidFill>
            <a:srgbClr val="0D11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3040" tIns="177840" rIns="203040" bIns="177840" anchor="ctr">
            <a:noAutofit/>
          </a:bodyPr>
          <a:p>
            <a:pPr algn="ctr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01 - tracing_basics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02 - token_usage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05 - judges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11 - langchain_agent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400" b="0" u="none" strike="noStrike">
                <a:solidFill>
                  <a:srgbClr val="E8EAED"/>
                </a:solidFill>
                <a:effectLst/>
                <a:uFillTx/>
                <a:latin typeface="Consolas"/>
              </a:rPr>
              <a:t>07 - production_monitoring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1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22/23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Rectangle 1"/>
          <p:cNvSpPr/>
          <p:nvPr/>
        </p:nvSpPr>
        <p:spPr>
          <a:xfrm>
            <a:off x="0" y="0"/>
            <a:ext cx="1219140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2"/>
          <p:cNvSpPr/>
          <p:nvPr/>
        </p:nvSpPr>
        <p:spPr>
          <a:xfrm>
            <a:off x="731520" y="18288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Obrigado!</a:t>
            </a:r>
            <a:endParaRPr lang="pt-B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Rectangle 3"/>
          <p:cNvSpPr/>
          <p:nvPr/>
        </p:nvSpPr>
        <p:spPr>
          <a:xfrm>
            <a:off x="4114800" y="2926080"/>
            <a:ext cx="3931560" cy="37800"/>
          </a:xfrm>
          <a:prstGeom prst="rect">
            <a:avLst/>
          </a:prstGeom>
          <a:solidFill>
            <a:srgbClr val="00D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Box 4"/>
          <p:cNvSpPr/>
          <p:nvPr/>
        </p:nvSpPr>
        <p:spPr>
          <a:xfrm>
            <a:off x="731520" y="32918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D4FF"/>
                </a:solidFill>
                <a:effectLst/>
                <a:uFillTx/>
                <a:latin typeface="Calibri"/>
              </a:rPr>
              <a:t>Referencias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5"/>
          <p:cNvSpPr/>
          <p:nvPr/>
        </p:nvSpPr>
        <p:spPr>
          <a:xfrm>
            <a:off x="1828800" y="3840480"/>
            <a:ext cx="850356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MLflow GenAI Docs  —  mlflow.org/docs/latest/genai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Tracing Quickstart  —  mlflow.org/docs/latest/genai/tracing/quickstart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Evaluation &amp; Monitoring  —  mlflow.org/docs/latest/genai/eval-monitor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LLM Judges / Scorers  —  mlflow.org/docs/latest/genai/eval-monitor/scorers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E8EAED"/>
                </a:solidFill>
                <a:effectLst/>
                <a:uFillTx/>
                <a:latin typeface="Calibri"/>
              </a:rPr>
              <a:t>Production Monitoring  —  mlflow.org/docs/latest/genai/tracing/prod-tracing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6"/>
          <p:cNvSpPr/>
          <p:nvPr/>
        </p:nvSpPr>
        <p:spPr>
          <a:xfrm>
            <a:off x="11155680" y="644652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8B8F9E"/>
                </a:solidFill>
                <a:effectLst/>
                <a:uFillTx/>
                <a:latin typeface="Calibri"/>
              </a:rPr>
              <a:t>23/23</a:t>
            </a:r>
            <a:endParaRPr lang="pt-B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LibreOffice/26.2.3.2$Linux_X86_64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2026-06-21T00:25:56Z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