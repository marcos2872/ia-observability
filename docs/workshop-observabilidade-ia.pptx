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mini_Generated_Image_6oaua56oaua56o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OBSERVABILIDADE</a:t>
            </a:r>
            <a:br/>
            <a:r>
              <a:t>EM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56616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Calibri"/>
              </a:defRPr>
            </a:pPr>
            <a:r>
              <a:t>Workshop pratico — 1 hora · MLflow GenAI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8F9E"/>
                </a:solidFill>
                <a:latin typeface="Calibri"/>
              </a:defRPr>
            </a:pPr>
            <a:r>
              <a:t>Baseado no projeto ia-observability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Por que observabilidade</a:t>
            </a:r>
            <a:br/>
            <a:r>
              <a:t>em IA e importante?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5486400" cy="254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Diferenca: software tradicional vs.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80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Software tradicional: mesmo input → mesmo output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Deterministico, reproduzivel, testavel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98480" cy="329184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0800" cy="3291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7C3AED"/>
                </a:solidFill>
                <a:latin typeface="Calibri"/>
              </a:defRPr>
            </a:pPr>
            <a:r>
              <a:t>Com LLMs isso quebra: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Nao-determinismo — mesmo prompt, respostas diferentes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Caixa-preta — nao ve por que o modelo respondeu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Falha silenciosa — alucina com confianca e devolve HTTP 200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Custo variavel — tokens se multiplicam em escala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Pipelines complexos — RAG + tools + LLM: qual etapa falhou?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 que e observabilidade em 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  <a:latin typeface="Calibri"/>
              </a:rPr>
              <a:t>Capacidade de entender o estado interno de uma aplicacao de IA
atraves de traces, tokens/custo, latencia e qualidade das respostas.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36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0B1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85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Requisicao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52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9E"/>
                </a:solidFill>
                <a:latin typeface="Calibri"/>
              </a:defRPr>
            </a:pPr>
            <a:r>
              <a:t>O input chega na aplicacao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88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0B1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3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Trace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044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9E"/>
                </a:solidFill>
                <a:latin typeface="Calibri"/>
              </a:defRPr>
            </a:pPr>
            <a:r>
              <a:t>Inputs, outputs, latencia de cada passo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39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0B1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8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9E"/>
                </a:solidFill>
                <a:latin typeface="Calibri"/>
              </a:defRPr>
            </a:pPr>
            <a:r>
              <a:t>Tokens, custo, score de qualidade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solidFill>
            <a:srgbClr val="1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50800" cy="59436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521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006E"/>
                </a:solidFill>
                <a:latin typeface="Calibri"/>
              </a:defRPr>
            </a:pPr>
            <a:r>
              <a:t>Sem observabilidade, melhorar IA e chute. Com ela, vira engenharia.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Caso de uso e o problema</a:t>
            </a:r>
            <a:br/>
            <a:r>
              <a:t>que ela resolve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5486400" cy="254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 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80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EAED"/>
                </a:solidFill>
                <a:latin typeface="Calibri"/>
              </a:rPr>
              <a:t>"Um cliente reclamou que o bot deu uma resposta errada as 14h32. O time nao consegue reproduzir.
A conta de inferencia triplicou no mes. Ninguem sabe qual ferramenta esta lenta
nem qual versao do prompt esta no ar."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AED"/>
                </a:solidFill>
                <a:latin typeface="Calibri"/>
              </a:defRPr>
            </a:pPr>
            <a:r>
              <a:t>Sem observabilidade, cada pergunta e impossivel de responder: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▸  O que o usuario enviou e o que o modelo respondeu?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▸  Qual ferramenta o agente chamou? Ela falhou ou demorou?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▸  Por que a conta de tokens explodiu?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▸  Essa resposta estava certa? Quantas estao erradas?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▸  Qual versao do prompt gerou essa resposta?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8B8F9E"/>
                </a:solidFill>
                <a:latin typeface="Calibri"/>
              </a:defRPr>
            </a:pPr>
            <a:r>
              <a:t>▸  Auditar 100% de pagamentos, mas so 10% do resto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 que cada problema resolve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38404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70B14"/>
                          </a:solidFill>
                          <a:latin typeface="Calibri"/>
                        </a:defRPr>
                      </a:pPr>
                      <a:r>
                        <a:t>Pergunta do time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70B14"/>
                          </a:solidFill>
                          <a:latin typeface="Calibri"/>
                        </a:defRPr>
                      </a:pPr>
                      <a:r>
                        <a:t>O que resolve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O que o usuario enviou e o que o modelo respondeu?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Tracing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Qual ferramenta o agente chamou? Falhou ou demorou?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Spans de tool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Por que a conta de tokens explodiu?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Token usage + custo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Essa resposta estava certa? Quantas estao erradas?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Avaliacao / Judges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Qual versao do prompt gerou isso?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Prompt registry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Auditar 100% de pagamentos, so 10% do resto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Sampling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Como uma tool lenta aparece num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28600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@tool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def check_inventory(product: str) -&gt; str: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    """Consulta o estoque disponivel de um produto."""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    # Simula latencia alta seguida de falha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    time.sleep(2.5)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    return f"ERRO: Timeout ao consultar estoque do produto '{product}'"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5080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No MLflow UI, time.sleep(2.5) vira um span visivel de 2,5s — o gargalo fica mensuravel, nao um misterio.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Os 4 pilares da</a:t>
            </a:r>
            <a:br/>
            <a:r>
              <a:t>observabilidade de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5486400" cy="254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09/23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 pilares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6607" y="1463040"/>
            <a:ext cx="2468880" cy="43891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6607" y="1463040"/>
            <a:ext cx="24688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TRACING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3807" y="2377440"/>
            <a:ext cx="1554480" cy="12700"/>
          </a:xfrm>
          <a:prstGeom prst="rect">
            <a:avLst/>
          </a:prstGeom>
          <a:solidFill>
            <a:srgbClr val="3A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487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AED"/>
                </a:solidFill>
                <a:latin typeface="Calibri"/>
              </a:defRPr>
            </a:pPr>
            <a:r>
              <a:t>Registra cada passo da execucao:</a:t>
            </a:r>
            <a:br/>
            <a:r>
              <a:t>inputs, outputs, latencia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9807" y="1463040"/>
            <a:ext cx="2468880" cy="43891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9807" y="1463040"/>
            <a:ext cx="24688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2687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CUSTO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47007" y="2377440"/>
            <a:ext cx="1554480" cy="12700"/>
          </a:xfrm>
          <a:prstGeom prst="rect">
            <a:avLst/>
          </a:prstGeom>
          <a:solidFill>
            <a:srgbClr val="3A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2687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AED"/>
                </a:solidFill>
                <a:latin typeface="Calibri"/>
              </a:defRPr>
            </a:pPr>
            <a:r>
              <a:t>Quanto cada chamada consome</a:t>
            </a:r>
            <a:br/>
            <a:r>
              <a:t>e quanto custa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2468880" cy="43891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463040"/>
            <a:ext cx="2468880" cy="5080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5A0"/>
                </a:solidFill>
                <a:latin typeface="Calibri"/>
              </a:defRPr>
            </a:pPr>
            <a:r>
              <a:t>AVALIACAO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0207" y="2377440"/>
            <a:ext cx="1554480" cy="12700"/>
          </a:xfrm>
          <a:prstGeom prst="rect">
            <a:avLst/>
          </a:prstGeom>
          <a:solidFill>
            <a:srgbClr val="3A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AED"/>
                </a:solidFill>
                <a:latin typeface="Calibri"/>
              </a:defRPr>
            </a:pPr>
            <a:r>
              <a:t>Mede a qualidade com judges</a:t>
            </a:r>
            <a:br/>
            <a:r>
              <a:t>e code-based scorers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6207" y="1463040"/>
            <a:ext cx="2468880" cy="438912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6207" y="1463040"/>
            <a:ext cx="2468880" cy="5080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9087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006E"/>
                </a:solidFill>
                <a:latin typeface="Calibri"/>
              </a:defRPr>
            </a:pPr>
            <a:r>
              <a:t>PRODUCAO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33407" y="2377440"/>
            <a:ext cx="1554480" cy="12700"/>
          </a:xfrm>
          <a:prstGeom prst="rect">
            <a:avLst/>
          </a:prstGeom>
          <a:solidFill>
            <a:srgbClr val="3A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9087" y="265176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AED"/>
                </a:solidFill>
                <a:latin typeface="Calibri"/>
              </a:defRPr>
            </a:pPr>
            <a:r>
              <a:t>Sampling, feedback humano,</a:t>
            </a:r>
            <a:br/>
            <a:r>
              <a:t>sessions e users em escala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Como usar — demos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F9E"/>
                </a:solidFill>
                <a:latin typeface="Calibri"/>
              </a:defRPr>
            </a:pPr>
            <a:r>
              <a:t>MLflow GenAI + OpenAI SDK + MLflow AI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5486400" cy="254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1 — Tracing em 1 linha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make tracing  ·  tracing_basics.py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import mlflow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mlflow.openai.autolog()   # &lt;- 1 linha instrumenta todas as chamadas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client = get_client()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response = client.chat.completions.create(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    model=MODEL_NAME, messages=[...],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700" b="0">
                <a:solidFill>
                  <a:srgbClr val="00D4FF"/>
                </a:solidFill>
                <a:latin typeface="Calibri"/>
              </a:defRPr>
            </a:pPr>
            <a:r>
              <a:t>Captura inputs, outputs, tokens e latencia automaticamente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E8EAED"/>
                </a:solidFill>
                <a:latin typeface="Calibri"/>
              </a:defRPr>
            </a:pPr>
            <a:r>
              <a:t>Sem nenhuma instrumentacao manual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E8EAED"/>
                </a:solidFill>
                <a:latin typeface="Calibri"/>
              </a:defRPr>
            </a:pPr>
            <a:r>
              <a:t>Abra o trace no MLflow UI e veja tudo pronto</a:t>
            </a:r>
          </a:p>
          <a:p>
            <a:pPr>
              <a:spcBef>
                <a:spcPts val="1600"/>
              </a:spcBef>
              <a:spcAft>
                <a:spcPts val="200"/>
              </a:spcAft>
              <a:defRPr sz="1500" b="0">
                <a:solidFill>
                  <a:srgbClr val="FF006E"/>
                </a:solidFill>
                <a:latin typeface="Calibri"/>
              </a:defRPr>
            </a:pPr>
            <a:r>
              <a:t>Gotcha: flush_trace_async_logging() antes de search_traces()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2 — Pipelines complexos: spans aninhados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make tracing  ·  tracing_basics.py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256032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@mlflow.trace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def demo_rag_pipeline(question: str) -&gt; str: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    context = retrieve_context(question)        # span filho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    answer = generate_answer(question, context) # span filho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    return answer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@mlflow.trace(span_type="RETRIEVER")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def retrieve_context(question: str) -&gt; str: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    ...  # busca em vector store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@mlflow.trace(span_type="LLM")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def generate_answer(question: str, context: str) -&gt; str: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E8EAED"/>
                </a:solidFill>
                <a:latin typeface="Consolas"/>
              </a:defRPr>
            </a:pPr>
            <a:r>
              <a:t>    ...  # chamada ao LLM com o contexto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80560"/>
            <a:ext cx="10698480" cy="9144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480560"/>
            <a:ext cx="5080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FF"/>
                </a:solidFill>
                <a:latin typeface="Calibri"/>
              </a:defRPr>
            </a:pPr>
            <a:r>
              <a:t>Resposta errada? O trace mostra: foi o retrieval (contexto ruim) ou a geracao (modelo)?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3 — Quanto isso custa?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make tokens  ·  token_usage.py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18288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0800" cy="182880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0F5A0"/>
                </a:solidFill>
                <a:latin typeface="Calibri"/>
              </a:defRPr>
            </a:pPr>
            <a:r>
              <a:t>MLflow calcula custo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0F5A0"/>
                </a:solidFill>
                <a:latin typeface="Calibri"/>
              </a:defRPr>
            </a:pPr>
            <a:r>
              <a:t>automatico para OpenAI,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00F5A0"/>
                </a:solidFill>
                <a:latin typeface="Calibri"/>
              </a:defRPr>
            </a:pPr>
            <a:r>
              <a:t>Anthropic e outros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120640" cy="18288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0800" cy="182880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F006E"/>
                </a:solidFill>
                <a:latin typeface="Calibri"/>
              </a:defRPr>
            </a:pPr>
            <a:r>
              <a:t>Para self-hosted: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006E"/>
                </a:solidFill>
                <a:latin typeface="Calibri"/>
              </a:defRPr>
            </a:pPr>
            <a:r>
              <a:t>atribua custo manualmente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F006E"/>
                </a:solidFill>
                <a:latin typeface="Calibri"/>
              </a:defRPr>
            </a:pPr>
            <a:r>
              <a:t>no span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span.set_attribute("mlflow.llm.cost", {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    "input_cost": input_tokens * CUSTOM_INPUT_COST,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    "output_cost": output_tokens * CUSTOM_OUTPUT_COST,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Veja Cost Breakdown e Token Usage por trace no MLflow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4 — A resposta estava certa?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make judges  ·  judges.py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1148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0800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LLM 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9E"/>
                </a:solidFill>
                <a:latin typeface="Calibri"/>
              </a:defRPr>
            </a:pPr>
            <a:r>
              <a:t>Modelo julga a resposta em linguagem natural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560320"/>
            <a:ext cx="4572000" cy="164592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Guidelines(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name="technical_accuracy",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guidelines=("A resposta deve ser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    tecnica e precisa."),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model=JUDGE_MODEL,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120640" cy="41148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0800" cy="411480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5A0"/>
                </a:solidFill>
                <a:latin typeface="Calibri"/>
              </a:defRPr>
            </a:pPr>
            <a:r>
              <a:t>Code-based Scorer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9E"/>
                </a:solidFill>
                <a:latin typeface="Calibri"/>
              </a:defRPr>
            </a:pPr>
            <a:r>
              <a:t>Regra deterministica sem custo de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560320"/>
            <a:ext cx="4572000" cy="164592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@scorer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def no_hallucination(inputs, outputs):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red_flags = [...],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if any(f in outputs for f in red_flags):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    return Feedback(value=False)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return Feedback(value=True)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1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943600"/>
            <a:ext cx="508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989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C3AED"/>
                </a:solidFill>
                <a:latin typeface="Calibri"/>
              </a:defRPr>
            </a:pPr>
            <a:r>
              <a:t>Combine os dois: LLM judges para qualidade subjetiva + scorers para regras objetivas sem custo.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5 — Agente real com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make langchain-agent  ·  langchain_agent.py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365760"/>
          </a:xfrm>
          <a:prstGeom prst="rect">
            <a:avLst/>
          </a:prstGeom>
          <a:solidFill>
            <a:srgbClr val="1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800" cy="36576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006E"/>
                </a:solidFill>
                <a:latin typeface="Calibri"/>
              </a:defRPr>
            </a:pPr>
            <a:r>
              <a:t>PROD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6E"/>
                </a:solidFill>
                <a:latin typeface="Calibri"/>
              </a:defRPr>
            </a:pPr>
            <a:r>
              <a:t>Mesmo padrao do backend de producao keepee-rag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00D4FF"/>
                </a:solidFill>
                <a:latin typeface="Calibri"/>
              </a:defRPr>
            </a:pPr>
            <a:r>
              <a:t>▸  agent.astream() — streaming token a token em tempo real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7C3AED"/>
                </a:solidFill>
                <a:latin typeface="Calibri"/>
              </a:defRPr>
            </a:pPr>
            <a:r>
              <a:t>▸  Span manual SpanType.AGENT com inputs/outputs explicitos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7C3AED"/>
                </a:solidFill>
                <a:latin typeface="Calibri"/>
              </a:defRPr>
            </a:pPr>
            <a:r>
              <a:t>▸  Session em dict (reconstrucao manual do historico)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get_stream_writer() para logs de progresso das tools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Eventos JSON newline-delimited via make_event()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trace_id capturado do span e exposto para feedback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User/session vinculados ao trace ANTES do stream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▸  Tags (provider, model_name) setadas apos o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autolog vs. Manual Span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2976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70B14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70B14"/>
                          </a:solidFill>
                          <a:latin typeface="Calibri"/>
                        </a:defRPr>
                      </a:pPr>
                      <a:r>
                        <a:t>autolog()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70B14"/>
                          </a:solidFill>
                          <a:latin typeface="Calibri"/>
                        </a:defRPr>
                      </a:pPr>
                      <a:r>
                        <a:t>Producao (manual span)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invoke() bloqueante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F5A0"/>
                          </a:solidFill>
                          <a:latin typeface="Calibri"/>
                        </a:defRPr>
                      </a:pPr>
                      <a:r>
                        <a:t>astream() token a token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Session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MemorySaver (checkpointer)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F5A0"/>
                          </a:solidFill>
                          <a:latin typeface="Calibri"/>
                        </a:defRPr>
                      </a:pPr>
                      <a:r>
                        <a:t>Dict (reconstrucao manual)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Controle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Automatico (generico)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F5A0"/>
                          </a:solidFill>
                          <a:latin typeface="Calibri"/>
                        </a:defRPr>
                      </a:pPr>
                      <a:r>
                        <a:t>Inputs/outputs explicitos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Progresso tools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So o resultado final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F5A0"/>
                          </a:solidFill>
                          <a:latin typeface="Calibri"/>
                        </a:defRPr>
                      </a:pPr>
                      <a:r>
                        <a:t>Logs via get_stream_writer()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Eventos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Apenas no trace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F5A0"/>
                          </a:solidFill>
                          <a:latin typeface="Calibri"/>
                        </a:defRPr>
                      </a:pPr>
                      <a:r>
                        <a:t>JSON newline-delimited (SSE)</a:t>
                      </a:r>
                    </a:p>
                  </a:txBody>
                  <a:tcPr>
                    <a:solidFill>
                      <a:srgbClr val="12172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trace_id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AED"/>
                          </a:solidFill>
                          <a:latin typeface="Calibri"/>
                        </a:defRPr>
                      </a:pPr>
                      <a:r>
                        <a:t>get_last_active_trace_id()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F5A0"/>
                          </a:solidFill>
                          <a:latin typeface="Calibri"/>
                        </a:defRPr>
                      </a:pPr>
                      <a:r>
                        <a:t>Capturado do span manual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6 — Operando em producao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make monitoring  ·  production_monitoring.py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22860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08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Sampling por criticidade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9E"/>
                </a:solidFill>
                <a:latin typeface="Calibri"/>
              </a:defRPr>
            </a:pPr>
            <a:r>
              <a:t>Nao traceie 100% — storage e custo importam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468880"/>
            <a:ext cx="4572000" cy="109728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@mlflow.trace(sampling_ratio_override=1.0)  # 100% critico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@mlflow.trace(sampling_ratio_override=0.1)  # 10% volume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def agent_call(...)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120640" cy="228600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0800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Feedback humano no trace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194560"/>
            <a:ext cx="4572000" cy="137160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trace_id = get_last_active_trace_id()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mlflow.log_feedback(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trace_id=trace_id,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name="user_rating",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value=True,  # like/dislike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    rationale="texto do usuario",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E8EAED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solidFill>
            <a:srgbClr val="1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0800" cy="45720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531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006E"/>
                </a:solidFill>
                <a:latin typeface="Calibri"/>
              </a:defRPr>
            </a:pPr>
            <a:r>
              <a:t>flush_trace_async_logging() antes de search_traces()!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Fechamento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5486400" cy="25400"/>
          </a:xfrm>
          <a:prstGeom prst="rect">
            <a:avLst/>
          </a:prstGeom>
          <a:solidFill>
            <a:srgbClr val="2A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 ciclo virtuoso da observabilidade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8087" y="1645920"/>
            <a:ext cx="2926080" cy="29260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8087" y="1645920"/>
            <a:ext cx="29260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8087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TRACING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Vejo o que</a:t>
            </a:r>
            <a:br/>
            <a:r>
              <a:t>acontece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367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1645920"/>
            <a:ext cx="2926080" cy="29260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2807" y="1645920"/>
            <a:ext cx="29260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AVALIACAO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Meco a</a:t>
            </a:r>
            <a:br/>
            <a:r>
              <a:t>qualidade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087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527" y="1645920"/>
            <a:ext cx="2926080" cy="2926080"/>
          </a:xfrm>
          <a:prstGeom prst="rect">
            <a:avLst/>
          </a:prstGeom>
          <a:solidFill>
            <a:srgbClr val="12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527" y="1645920"/>
            <a:ext cx="2926080" cy="5080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527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5A0"/>
                </a:solidFill>
                <a:latin typeface="Calibri"/>
              </a:defRPr>
            </a:pPr>
            <a:r>
              <a:t>OTIMIZACAO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7527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Melhoro prompts</a:t>
            </a:r>
            <a:br/>
            <a:r>
              <a:t>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^  fecha o ciclo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solidFill>
            <a:srgbClr val="1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5080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Observabilidade nao e "ver logs" — e o que fecha o ciclo entre observar, medir e melhorar sua 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Ligue auto-tracing (mlflow.openai.autolog)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Use spans aninhados em pipelines (RAG, agentes)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Atribua custo manualmente se self-hosted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Combine LLM judges + code-based scorers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Vincule user_id e session_id aos traces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Producao: sampling por criticidade + feedback humano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E8EAED"/>
                </a:solidFill>
                <a:latin typeface="Calibri"/>
              </a:defRPr>
            </a:pPr>
            <a:r>
              <a:t>[ ]  flush_trace_async_logging() antes de ler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Comandos para explorar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# Setup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uv sync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# Demos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make tracing            # 01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make tokens             # 02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make judges             # 05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make langchain-agent    # 11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make monitoring         # 07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E8EAED"/>
                </a:solidFill>
                <a:latin typeface="Consolas"/>
              </a:defRPr>
            </a:pPr>
            <a:r>
              <a:t>make help    # lista todas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029200" cy="256032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800" cy="2560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MLflow UI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http://localhost:5000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E8EAED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MLflow AI Gateway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http://localhost:5000/gateway/mlflow/v1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E8EAED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Docker Compose: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podman compose up -d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114800"/>
            <a:ext cx="5029200" cy="2103120"/>
          </a:xfrm>
          <a:prstGeom prst="rect">
            <a:avLst/>
          </a:prstGeom>
          <a:solidFill>
            <a:srgbClr val="121728"/>
          </a:solidFill>
          <a:ln w="12700">
            <a:solidFill>
              <a:srgbClr val="1E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4114800"/>
            <a:ext cx="508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Experiments: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4572000"/>
            <a:ext cx="4389120" cy="1371600"/>
          </a:xfrm>
          <a:prstGeom prst="rect">
            <a:avLst/>
          </a:prstGeom>
          <a:solidFill>
            <a:srgbClr val="0D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01 - tracing_basics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02 - token_usage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05 - judges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11 - langchain_agent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E8EAED"/>
                </a:solidFill>
                <a:latin typeface="Consolas"/>
              </a:defRPr>
            </a:pPr>
            <a:r>
              <a:t>07 - production_monitoring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92608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MLflow GenAI Docs  —  mlflow.org/docs/latest/genai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Tracing Quickstart  —  mlflow.org/docs/latest/genai/tracing/quickstart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Evaluation &amp; Monitoring  —  mlflow.org/docs/latest/genai/eval-monitor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LLM Judges / Scorers  —  mlflow.org/docs/latest/genai/eval-monitor/scorers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E8EAED"/>
                </a:solidFill>
                <a:latin typeface="Calibri"/>
              </a:defRPr>
            </a:pPr>
            <a:r>
              <a:t>Production Monitoring  —  mlflow.org/docs/latest/genai/tracing/prod-tracing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8F9E"/>
                </a:solidFill>
                <a:latin typeface="Calibri"/>
              </a:defRPr>
            </a:pPr>
            <a: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