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embeddedFontLst>
    <p:embeddedFont>
      <p:font typeface="Plus Jakarta Sans SemiBold"/>
      <p:regular r:id="rId15"/>
      <p:bold r:id="rId16"/>
      <p:boldItalic r:id="rId15"/>
    </p:embeddedFont>
    <p:embeddedFont>
      <p:font typeface="JetBrains Mono"/>
      <p:regular r:id="rId17"/>
      <p:bold r:id="rId18"/>
      <p:italic r:id="rId19"/>
      <p:boldItalic r:id="rId20"/>
    </p:embeddedFont>
    <p:embeddedFont>
      <p:font typeface="Plus Jakarta Sans ExtraBold"/>
      <p:regular r:id="rId21"/>
    </p:embeddedFont>
    <p:embeddedFont>
      <p:font typeface="Plus Jakarta Sans"/>
      <p:regular r:id="rId22"/>
      <p:bold r:id="rId16"/>
      <p:italic r:id="rId23"/>
      <p:boldItalic r:id="rId15"/>
    </p:embeddedFont>
    <p:embeddedFont>
      <p:font typeface="Noto Sans CJK SC"/>
      <p:regular r:id="rId24"/>
      <p:bold r:id="rId24"/>
      <p:italic r:id="rId24"/>
    </p:embeddedFont>
    <p:embeddedFont>
      <p:font typeface="Noto Sans Devanagari"/>
      <p:regular r:id="rId25"/>
      <p:bold r:id="rId25"/>
      <p:italic r:id="rId25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font" Target="fonts/Font_1_Plus_Jakarta_Sans_SemiBold_Regular.fntdata"/><Relationship Id="rId16" Type="http://schemas.openxmlformats.org/officeDocument/2006/relationships/font" Target="fonts/Font_2_Plus_Jakarta_Sans_SemiBold_Bold.fntdata"/><Relationship Id="rId17" Type="http://schemas.openxmlformats.org/officeDocument/2006/relationships/font" Target="fonts/Font_3_JetBrains_Mono_Regular.fntdata"/><Relationship Id="rId18" Type="http://schemas.openxmlformats.org/officeDocument/2006/relationships/font" Target="fonts/Font_4_JetBrains_Mono_Bold.fntdata"/><Relationship Id="rId19" Type="http://schemas.openxmlformats.org/officeDocument/2006/relationships/font" Target="fonts/Font_5_JetBrains_Mono_Italic.fntdata"/><Relationship Id="rId20" Type="http://schemas.openxmlformats.org/officeDocument/2006/relationships/font" Target="fonts/Font_6_JetBrains_Mono_BoldItalic.fntdata"/><Relationship Id="rId21" Type="http://schemas.openxmlformats.org/officeDocument/2006/relationships/font" Target="fonts/Font_7_Plus_Jakarta_Sans_ExtraBold_Regular.fntdata"/><Relationship Id="rId22" Type="http://schemas.openxmlformats.org/officeDocument/2006/relationships/font" Target="fonts/Font_8_Plus_Jakarta_Sans_Regular.fntdata"/><Relationship Id="rId23" Type="http://schemas.openxmlformats.org/officeDocument/2006/relationships/font" Target="fonts/Font_9_Plus_Jakarta_Sans_Italic.fntdata"/><Relationship Id="rId24" Type="http://schemas.openxmlformats.org/officeDocument/2006/relationships/font" Target="fonts/Font_10_Noto_Sans_CJK_SC_Regular.fntdata"/><Relationship Id="rId25" Type="http://schemas.openxmlformats.org/officeDocument/2006/relationships/font" Target="fonts/Font_11_Noto_Sans_Devanagari_Regular.fntdata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9CE009F-E72F-461C-9E87-9BE131955B5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9C3961F-9A5A-41AC-A99D-43106993232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366B917-161D-422B-8717-52E145CC7C7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A8D387D-090A-4AD9-A890-6BB7C22A7E9E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925FBC-9686-452F-9622-BDEC9FAD933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buNone/>
              <a:def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6A16189-9895-4AC0-B242-5970AC37145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1C9556B-5172-4ADF-8B12-F5691FE0940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8ED92DD-38C7-49C4-A951-F218383B4AB1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FE112AE-1B49-4367-BA86-D0D5CDAEEEF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7A50B84-D36F-4C83-970A-BAD46DE75213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4475B77-6C19-44B8-8EBE-1B38E278FD3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4.png"/><Relationship Id="rId5" Type="http://schemas.openxmlformats.org/officeDocument/2006/relationships/image" Target="../media/image22.png"/><Relationship Id="rId6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4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84;p1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Google Shape;85;p13" descr="image.png"/>
          <p:cNvPicPr/>
          <p:nvPr/>
        </p:nvPicPr>
        <p:blipFill>
          <a:blip r:embed="rId2"/>
          <a:stretch/>
        </p:blipFill>
        <p:spPr>
          <a:xfrm>
            <a:off x="5000760" y="2213640"/>
            <a:ext cx="219024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Google Shape;86;p13" descr="image.png"/>
          <p:cNvPicPr/>
          <p:nvPr/>
        </p:nvPicPr>
        <p:blipFill>
          <a:blip r:embed="rId3"/>
          <a:stretch/>
        </p:blipFill>
        <p:spPr>
          <a:xfrm>
            <a:off x="581040" y="485640"/>
            <a:ext cx="11029680" cy="561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Google Shape;87;p13" descr="image.png"/>
          <p:cNvPicPr/>
          <p:nvPr/>
        </p:nvPicPr>
        <p:blipFill>
          <a:blip r:embed="rId4"/>
          <a:stretch/>
        </p:blipFill>
        <p:spPr>
          <a:xfrm>
            <a:off x="581040" y="6105600"/>
            <a:ext cx="1102968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Google Shape;88;p13"/>
          <p:cNvSpPr/>
          <p:nvPr/>
        </p:nvSpPr>
        <p:spPr>
          <a:xfrm>
            <a:off x="3002400" y="2661480"/>
            <a:ext cx="618696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14000"/>
              </a:lnSpc>
              <a:tabLst>
                <a:tab pos="0" algn="l"/>
              </a:tabLst>
            </a:pPr>
            <a:r>
              <a:rPr lang="en-US" sz="4350" b="0" u="none" strike="noStrike">
                <a:solidFill>
                  <a:srgbClr val="FFFFFF"/>
                </a:solidFill>
                <a:effectLst/>
                <a:uFillTx/>
                <a:latin typeface="Plus Jakarta Sans ExtraBold"/>
                <a:ea typeface="Plus Jakarta Sans ExtraBold"/>
              </a:rPr>
              <a:t>Observabilidade em IA</a:t>
            </a:r>
            <a:endParaRPr lang="en-US" sz="4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89;p13"/>
          <p:cNvSpPr/>
          <p:nvPr/>
        </p:nvSpPr>
        <p:spPr>
          <a:xfrm>
            <a:off x="2286000" y="3439440"/>
            <a:ext cx="76197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Workshop Prático de Engenharia — Validação, Julgamento e Monitoramento de LLMs em Produção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90;p13"/>
          <p:cNvSpPr/>
          <p:nvPr/>
        </p:nvSpPr>
        <p:spPr>
          <a:xfrm>
            <a:off x="3581280" y="4191840"/>
            <a:ext cx="502884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475569"/>
                </a:solidFill>
                <a:effectLst/>
                <a:uFillTx/>
                <a:latin typeface="Plus Jakarta Sans"/>
                <a:ea typeface="Plus Jakarta Sans"/>
              </a:rPr>
              <a:t>Referência de Projeto: </a:t>
            </a:r>
            <a:r>
              <a:rPr lang="en-US" sz="980" b="1" u="none" strike="noStrike">
                <a:solidFill>
                  <a:srgbClr val="475569"/>
                </a:solidFill>
                <a:effectLst/>
                <a:uFillTx/>
                <a:latin typeface="Plus Jakarta Sans"/>
                <a:ea typeface="Plus Jakarta Sans"/>
              </a:rPr>
              <a:t>workshop-observabilidade-ia.pptx</a:t>
            </a:r>
            <a:r>
              <a:rPr lang="en-US" sz="980" b="0" u="none" strike="noStrike">
                <a:solidFill>
                  <a:srgbClr val="475569"/>
                </a:solidFill>
                <a:effectLst/>
                <a:uFillTx/>
                <a:latin typeface="Plus Jakarta Sans"/>
                <a:ea typeface="Plus Jakarta Sans"/>
              </a:rPr>
              <a:t> | Módulo: ia-observability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1;p13"/>
          <p:cNvSpPr/>
          <p:nvPr/>
        </p:nvSpPr>
        <p:spPr>
          <a:xfrm>
            <a:off x="581040" y="6229440"/>
            <a:ext cx="1380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4748B"/>
                </a:solidFill>
                <a:effectLst/>
                <a:uFillTx/>
                <a:latin typeface="Plus Jakarta Sans"/>
                <a:ea typeface="Plus Jakarta Sans"/>
              </a:rPr>
              <a:t>IA </a:t>
            </a:r>
            <a:r>
              <a:rPr lang="en-US" sz="900" b="1" u="none" strike="noStrike">
                <a:solidFill>
                  <a:srgbClr val="00E5FF"/>
                </a:solidFill>
                <a:effectLst/>
                <a:uFillTx/>
                <a:latin typeface="Plus Jakarta Sans"/>
                <a:ea typeface="Plus Jakarta Sans"/>
              </a:rPr>
              <a:t>OBSERVABILIDADE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92;p13"/>
          <p:cNvSpPr/>
          <p:nvPr/>
        </p:nvSpPr>
        <p:spPr>
          <a:xfrm>
            <a:off x="11144160" y="6234120"/>
            <a:ext cx="46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475569"/>
                </a:solidFill>
                <a:effectLst/>
                <a:uFillTx/>
                <a:latin typeface="JetBrains Mono"/>
                <a:ea typeface="JetBrains Mono"/>
              </a:rPr>
              <a:t>01 / 12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128;p1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Google Shape;129;p15" descr="image.png"/>
          <p:cNvPicPr/>
          <p:nvPr/>
        </p:nvPicPr>
        <p:blipFill>
          <a:blip r:embed="rId2"/>
          <a:stretch/>
        </p:blipFill>
        <p:spPr>
          <a:xfrm>
            <a:off x="581040" y="2444400"/>
            <a:ext cx="5347800" cy="237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Google Shape;130;p15" descr="image.png"/>
          <p:cNvPicPr/>
          <p:nvPr/>
        </p:nvPicPr>
        <p:blipFill>
          <a:blip r:embed="rId3"/>
          <a:stretch/>
        </p:blipFill>
        <p:spPr>
          <a:xfrm>
            <a:off x="6262560" y="2444400"/>
            <a:ext cx="5347800" cy="237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Google Shape;131;p15" descr="image.png"/>
          <p:cNvPicPr/>
          <p:nvPr/>
        </p:nvPicPr>
        <p:blipFill>
          <a:blip r:embed="rId4"/>
          <a:stretch/>
        </p:blipFill>
        <p:spPr>
          <a:xfrm>
            <a:off x="581040" y="6105600"/>
            <a:ext cx="1102968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Google Shape;132;p15"/>
          <p:cNvSpPr/>
          <p:nvPr/>
        </p:nvSpPr>
        <p:spPr>
          <a:xfrm>
            <a:off x="581040" y="6229440"/>
            <a:ext cx="1380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4748B"/>
                </a:solidFill>
                <a:effectLst/>
                <a:uFillTx/>
                <a:latin typeface="Plus Jakarta Sans"/>
                <a:ea typeface="Plus Jakarta Sans"/>
              </a:rPr>
              <a:t>IA </a:t>
            </a:r>
            <a:r>
              <a:rPr lang="en-US" sz="900" b="1" u="none" strike="noStrike">
                <a:solidFill>
                  <a:srgbClr val="00E5FF"/>
                </a:solidFill>
                <a:effectLst/>
                <a:uFillTx/>
                <a:latin typeface="Plus Jakarta Sans"/>
                <a:ea typeface="Plus Jakarta Sans"/>
              </a:rPr>
              <a:t>OBSERVABILIDADE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133;p15"/>
          <p:cNvSpPr/>
          <p:nvPr/>
        </p:nvSpPr>
        <p:spPr>
          <a:xfrm>
            <a:off x="11144160" y="6234120"/>
            <a:ext cx="46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475569"/>
                </a:solidFill>
                <a:effectLst/>
                <a:uFillTx/>
                <a:latin typeface="JetBrains Mono"/>
                <a:ea typeface="JetBrains Mono"/>
              </a:rPr>
              <a:t>03 / 12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34;p15"/>
          <p:cNvSpPr/>
          <p:nvPr/>
        </p:nvSpPr>
        <p:spPr>
          <a:xfrm>
            <a:off x="1167840" y="2663280"/>
            <a:ext cx="47289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Plus Jakarta Sans ExtraBold"/>
                <a:ea typeface="Plus Jakarta Sans ExtraBold"/>
              </a:rPr>
              <a:t>Software Tradicional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35;p15"/>
          <p:cNvSpPr/>
          <p:nvPr/>
        </p:nvSpPr>
        <p:spPr>
          <a:xfrm>
            <a:off x="6801840" y="2663280"/>
            <a:ext cx="47790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Plus Jakarta Sans ExtraBold"/>
                <a:ea typeface="Plus Jakarta Sans ExtraBold"/>
              </a:rPr>
              <a:t>Engenharia de LLM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" name="Google Shape;136;p15" descr="image.png"/>
          <p:cNvPicPr/>
          <p:nvPr/>
        </p:nvPicPr>
        <p:blipFill>
          <a:blip r:embed="rId5"/>
          <a:stretch/>
        </p:blipFill>
        <p:spPr>
          <a:xfrm>
            <a:off x="838080" y="2687400"/>
            <a:ext cx="2340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Google Shape;137;p15"/>
          <p:cNvSpPr/>
          <p:nvPr/>
        </p:nvSpPr>
        <p:spPr>
          <a:xfrm>
            <a:off x="1009800" y="3015720"/>
            <a:ext cx="4662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9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BD5E1"/>
                </a:solidFill>
                <a:effectLst/>
                <a:uFillTx/>
                <a:latin typeface="Plus Jakarta Sans"/>
                <a:ea typeface="Plus Jakarta Sans"/>
              </a:rPr>
              <a:t>Determinístico:</a:t>
            </a:r>
            <a:r>
              <a:rPr lang="en-US" sz="1050" b="0" u="none" strike="noStrike">
                <a:solidFill>
                  <a:srgbClr val="CBD5E1"/>
                </a:solidFill>
                <a:effectLst/>
                <a:uFillTx/>
                <a:latin typeface="Plus Jakarta Sans"/>
                <a:ea typeface="Plus Jakarta Sans"/>
              </a:rPr>
              <a:t> Input idêntico retorna exatamente o mesmo output.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38;p15"/>
          <p:cNvSpPr/>
          <p:nvPr/>
        </p:nvSpPr>
        <p:spPr>
          <a:xfrm>
            <a:off x="1009800" y="3305160"/>
            <a:ext cx="4662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9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BD5E1"/>
                </a:solidFill>
                <a:effectLst/>
                <a:uFillTx/>
                <a:latin typeface="Plus Jakarta Sans"/>
                <a:ea typeface="Plus Jakarta Sans"/>
              </a:rPr>
              <a:t>Depuração direta:</a:t>
            </a:r>
            <a:r>
              <a:rPr lang="en-US" sz="1050" b="0" u="none" strike="noStrike">
                <a:solidFill>
                  <a:srgbClr val="CBD5E1"/>
                </a:solidFill>
                <a:effectLst/>
                <a:uFillTx/>
                <a:latin typeface="Plus Jakarta Sans"/>
                <a:ea typeface="Plus Jakarta Sans"/>
              </a:rPr>
              <a:t> Falhas acionam erros explícitos e rastreáveis na stack.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39;p15"/>
          <p:cNvSpPr/>
          <p:nvPr/>
        </p:nvSpPr>
        <p:spPr>
          <a:xfrm>
            <a:off x="1009800" y="3594960"/>
            <a:ext cx="4662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9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BD5E1"/>
                </a:solidFill>
                <a:effectLst/>
                <a:uFillTx/>
                <a:latin typeface="Plus Jakarta Sans"/>
                <a:ea typeface="Plus Jakarta Sans"/>
              </a:rPr>
              <a:t>Custos previsíveis:</a:t>
            </a:r>
            <a:r>
              <a:rPr lang="en-US" sz="1050" b="0" u="none" strike="noStrike">
                <a:solidFill>
                  <a:srgbClr val="CBD5E1"/>
                </a:solidFill>
                <a:effectLst/>
                <a:uFillTx/>
                <a:latin typeface="Plus Jakarta Sans"/>
                <a:ea typeface="Plus Jakarta Sans"/>
              </a:rPr>
              <a:t> Alocação de recursos fixos e escalabilidade direta.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40;p15"/>
          <p:cNvSpPr/>
          <p:nvPr/>
        </p:nvSpPr>
        <p:spPr>
          <a:xfrm>
            <a:off x="1009800" y="3884400"/>
            <a:ext cx="4662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9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BD5E1"/>
                </a:solidFill>
                <a:effectLst/>
                <a:uFillTx/>
                <a:latin typeface="Plus Jakarta Sans"/>
                <a:ea typeface="Plus Jakarta Sans"/>
              </a:rPr>
              <a:t>Lógica estática:</a:t>
            </a:r>
            <a:r>
              <a:rPr lang="en-US" sz="1050" b="0" u="none" strike="noStrike">
                <a:solidFill>
                  <a:srgbClr val="CBD5E1"/>
                </a:solidFill>
                <a:effectLst/>
                <a:uFillTx/>
                <a:latin typeface="Plus Jakarta Sans"/>
                <a:ea typeface="Plus Jakarta Sans"/>
              </a:rPr>
              <a:t> Fácil validação via testes unitários e de integração locais.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" name="Google Shape;141;p15" descr="image.png"/>
          <p:cNvPicPr/>
          <p:nvPr/>
        </p:nvPicPr>
        <p:blipFill>
          <a:blip r:embed="rId6"/>
          <a:stretch/>
        </p:blipFill>
        <p:spPr>
          <a:xfrm>
            <a:off x="6519960" y="2687400"/>
            <a:ext cx="18648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Google Shape;142;p15"/>
          <p:cNvSpPr/>
          <p:nvPr/>
        </p:nvSpPr>
        <p:spPr>
          <a:xfrm>
            <a:off x="6691320" y="3015720"/>
            <a:ext cx="46620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9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BD5E1"/>
                </a:solidFill>
                <a:effectLst/>
                <a:uFillTx/>
                <a:latin typeface="Plus Jakarta Sans"/>
                <a:ea typeface="Plus Jakarta Sans"/>
              </a:rPr>
              <a:t>Não-determinístico:</a:t>
            </a:r>
            <a:r>
              <a:rPr lang="en-US" sz="1050" b="0" u="none" strike="noStrike">
                <a:solidFill>
                  <a:srgbClr val="CBD5E1"/>
                </a:solidFill>
                <a:effectLst/>
                <a:uFillTx/>
                <a:latin typeface="Plus Jakarta Sans"/>
                <a:ea typeface="Plus Jakarta Sans"/>
              </a:rPr>
              <a:t> Respostas mudam mesmo com o mesmo prompt de entrada.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43;p15"/>
          <p:cNvSpPr/>
          <p:nvPr/>
        </p:nvSpPr>
        <p:spPr>
          <a:xfrm>
            <a:off x="6691320" y="3518640"/>
            <a:ext cx="46620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9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BD5E1"/>
                </a:solidFill>
                <a:effectLst/>
                <a:uFillTx/>
                <a:latin typeface="Plus Jakarta Sans"/>
                <a:ea typeface="Plus Jakarta Sans"/>
              </a:rPr>
              <a:t>Falhas silenciosas:</a:t>
            </a:r>
            <a:r>
              <a:rPr lang="en-US" sz="1050" b="0" u="none" strike="noStrike">
                <a:solidFill>
                  <a:srgbClr val="CBD5E1"/>
                </a:solidFill>
                <a:effectLst/>
                <a:uFillTx/>
                <a:latin typeface="Plus Jakarta Sans"/>
                <a:ea typeface="Plus Jakarta Sans"/>
              </a:rPr>
              <a:t> Alucinações graves sem acionar erros de código (HTTP 200).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44;p15"/>
          <p:cNvSpPr/>
          <p:nvPr/>
        </p:nvSpPr>
        <p:spPr>
          <a:xfrm>
            <a:off x="6691320" y="4021200"/>
            <a:ext cx="4662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9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BD5E1"/>
                </a:solidFill>
                <a:effectLst/>
                <a:uFillTx/>
                <a:latin typeface="Plus Jakarta Sans"/>
                <a:ea typeface="Plus Jakarta Sans"/>
              </a:rPr>
              <a:t>Custo dinâmico:</a:t>
            </a:r>
            <a:r>
              <a:rPr lang="en-US" sz="1050" b="0" u="none" strike="noStrike">
                <a:solidFill>
                  <a:srgbClr val="CBD5E1"/>
                </a:solidFill>
                <a:effectLst/>
                <a:uFillTx/>
                <a:latin typeface="Plus Jakarta Sans"/>
                <a:ea typeface="Plus Jakarta Sans"/>
              </a:rPr>
              <a:t> Volume e multiplicação de tokens voláteis por chamada.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45;p15"/>
          <p:cNvSpPr/>
          <p:nvPr/>
        </p:nvSpPr>
        <p:spPr>
          <a:xfrm>
            <a:off x="6691320" y="4310640"/>
            <a:ext cx="46620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9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BD5E1"/>
                </a:solidFill>
                <a:effectLst/>
                <a:uFillTx/>
                <a:latin typeface="Plus Jakarta Sans"/>
                <a:ea typeface="Plus Jakarta Sans"/>
              </a:rPr>
              <a:t>Pipelines complexos:</a:t>
            </a:r>
            <a:r>
              <a:rPr lang="en-US" sz="1050" b="0" u="none" strike="noStrike">
                <a:solidFill>
                  <a:srgbClr val="CBD5E1"/>
                </a:solidFill>
                <a:effectLst/>
                <a:uFillTx/>
                <a:latin typeface="Plus Jakarta Sans"/>
                <a:ea typeface="Plus Jakarta Sans"/>
              </a:rPr>
              <a:t> Fluxos de RAG + tool calls múltiplos e encadeados.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46;p15"/>
          <p:cNvSpPr/>
          <p:nvPr/>
        </p:nvSpPr>
        <p:spPr>
          <a:xfrm>
            <a:off x="885960" y="2996640"/>
            <a:ext cx="85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E5FF"/>
                </a:solidFill>
                <a:effectLst/>
                <a:uFillTx/>
                <a:latin typeface="Plus Jakarta Sans"/>
                <a:ea typeface="Plus Jakarta Sans"/>
              </a:rPr>
              <a:t>•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47;p15"/>
          <p:cNvSpPr/>
          <p:nvPr/>
        </p:nvSpPr>
        <p:spPr>
          <a:xfrm>
            <a:off x="885960" y="3286440"/>
            <a:ext cx="85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E5FF"/>
                </a:solidFill>
                <a:effectLst/>
                <a:uFillTx/>
                <a:latin typeface="Plus Jakarta Sans"/>
                <a:ea typeface="Plus Jakarta Sans"/>
              </a:rPr>
              <a:t>•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48;p15"/>
          <p:cNvSpPr/>
          <p:nvPr/>
        </p:nvSpPr>
        <p:spPr>
          <a:xfrm>
            <a:off x="885960" y="3575880"/>
            <a:ext cx="85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E5FF"/>
                </a:solidFill>
                <a:effectLst/>
                <a:uFillTx/>
                <a:latin typeface="Plus Jakarta Sans"/>
                <a:ea typeface="Plus Jakarta Sans"/>
              </a:rPr>
              <a:t>•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49;p15"/>
          <p:cNvSpPr/>
          <p:nvPr/>
        </p:nvSpPr>
        <p:spPr>
          <a:xfrm>
            <a:off x="885960" y="3865320"/>
            <a:ext cx="85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E5FF"/>
                </a:solidFill>
                <a:effectLst/>
                <a:uFillTx/>
                <a:latin typeface="Plus Jakarta Sans"/>
                <a:ea typeface="Plus Jakarta Sans"/>
              </a:rPr>
              <a:t>•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50;p15"/>
          <p:cNvSpPr/>
          <p:nvPr/>
        </p:nvSpPr>
        <p:spPr>
          <a:xfrm>
            <a:off x="6567480" y="2996640"/>
            <a:ext cx="85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E5FF"/>
                </a:solidFill>
                <a:effectLst/>
                <a:uFillTx/>
                <a:latin typeface="Plus Jakarta Sans"/>
                <a:ea typeface="Plus Jakarta Sans"/>
              </a:rPr>
              <a:t>•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51;p15"/>
          <p:cNvSpPr/>
          <p:nvPr/>
        </p:nvSpPr>
        <p:spPr>
          <a:xfrm>
            <a:off x="6567480" y="3499560"/>
            <a:ext cx="85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E5FF"/>
                </a:solidFill>
                <a:effectLst/>
                <a:uFillTx/>
                <a:latin typeface="Plus Jakarta Sans"/>
                <a:ea typeface="Plus Jakarta Sans"/>
              </a:rPr>
              <a:t>•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52;p15"/>
          <p:cNvSpPr/>
          <p:nvPr/>
        </p:nvSpPr>
        <p:spPr>
          <a:xfrm>
            <a:off x="6567480" y="4002120"/>
            <a:ext cx="85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E5FF"/>
                </a:solidFill>
                <a:effectLst/>
                <a:uFillTx/>
                <a:latin typeface="Plus Jakarta Sans"/>
                <a:ea typeface="Plus Jakarta Sans"/>
              </a:rPr>
              <a:t>•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53;p15"/>
          <p:cNvSpPr/>
          <p:nvPr/>
        </p:nvSpPr>
        <p:spPr>
          <a:xfrm>
            <a:off x="6567480" y="4291920"/>
            <a:ext cx="85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E5FF"/>
                </a:solidFill>
                <a:effectLst/>
                <a:uFillTx/>
                <a:latin typeface="Plus Jakarta Sans"/>
                <a:ea typeface="Plus Jakarta Sans"/>
              </a:rPr>
              <a:t>•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54;p15"/>
          <p:cNvSpPr/>
          <p:nvPr/>
        </p:nvSpPr>
        <p:spPr>
          <a:xfrm>
            <a:off x="752400" y="485640"/>
            <a:ext cx="11401200" cy="4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2850" b="0" u="none" strike="noStrike">
                <a:solidFill>
                  <a:srgbClr val="FFFFFF"/>
                </a:solidFill>
                <a:effectLst/>
                <a:uFillTx/>
                <a:latin typeface="Plus Jakarta Sans ExtraBold"/>
                <a:ea typeface="Plus Jakarta Sans ExtraBold"/>
              </a:rPr>
              <a:t>A Mudança Fundamental: </a:t>
            </a:r>
            <a:r>
              <a:rPr lang="en-US" sz="2850" b="0" u="none" strike="noStrike">
                <a:solidFill>
                  <a:srgbClr val="00E5FF"/>
                </a:solidFill>
                <a:effectLst/>
                <a:uFillTx/>
                <a:latin typeface="Plus Jakarta Sans ExtraBold"/>
                <a:ea typeface="Plus Jakarta Sans ExtraBold"/>
              </a:rPr>
              <a:t>Software vs. IA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55;p15"/>
          <p:cNvSpPr/>
          <p:nvPr/>
        </p:nvSpPr>
        <p:spPr>
          <a:xfrm>
            <a:off x="581040" y="485640"/>
            <a:ext cx="47160" cy="433800"/>
          </a:xfrm>
          <a:prstGeom prst="rect">
            <a:avLst/>
          </a:prstGeom>
          <a:solidFill>
            <a:srgbClr val="00E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760" rIns="2376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160;p1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Google Shape;161;p16" descr="image.png"/>
          <p:cNvPicPr/>
          <p:nvPr/>
        </p:nvPicPr>
        <p:blipFill>
          <a:blip r:embed="rId2"/>
          <a:stretch/>
        </p:blipFill>
        <p:spPr>
          <a:xfrm>
            <a:off x="6262560" y="2107800"/>
            <a:ext cx="5347800" cy="304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Google Shape;162;p16" descr="image.png"/>
          <p:cNvPicPr/>
          <p:nvPr/>
        </p:nvPicPr>
        <p:blipFill>
          <a:blip r:embed="rId3"/>
          <a:stretch/>
        </p:blipFill>
        <p:spPr>
          <a:xfrm>
            <a:off x="581040" y="4028040"/>
            <a:ext cx="5347800" cy="6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Google Shape;163;p16" descr="image.png"/>
          <p:cNvPicPr/>
          <p:nvPr/>
        </p:nvPicPr>
        <p:blipFill>
          <a:blip r:embed="rId4"/>
          <a:stretch/>
        </p:blipFill>
        <p:spPr>
          <a:xfrm>
            <a:off x="581040" y="6105600"/>
            <a:ext cx="1102968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Google Shape;164;p16"/>
          <p:cNvSpPr/>
          <p:nvPr/>
        </p:nvSpPr>
        <p:spPr>
          <a:xfrm>
            <a:off x="581040" y="6229440"/>
            <a:ext cx="1380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4748B"/>
                </a:solidFill>
                <a:effectLst/>
                <a:uFillTx/>
                <a:latin typeface="Plus Jakarta Sans"/>
                <a:ea typeface="Plus Jakarta Sans"/>
              </a:rPr>
              <a:t>IA </a:t>
            </a:r>
            <a:r>
              <a:rPr lang="en-US" sz="900" b="1" u="none" strike="noStrike">
                <a:solidFill>
                  <a:srgbClr val="00E5FF"/>
                </a:solidFill>
                <a:effectLst/>
                <a:uFillTx/>
                <a:latin typeface="Plus Jakarta Sans"/>
                <a:ea typeface="Plus Jakarta Sans"/>
              </a:rPr>
              <a:t>OBSERVABILIDADE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65;p16"/>
          <p:cNvSpPr/>
          <p:nvPr/>
        </p:nvSpPr>
        <p:spPr>
          <a:xfrm>
            <a:off x="11144160" y="6234120"/>
            <a:ext cx="46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475569"/>
                </a:solidFill>
                <a:effectLst/>
                <a:uFillTx/>
                <a:latin typeface="JetBrains Mono"/>
                <a:ea typeface="JetBrains Mono"/>
              </a:rPr>
              <a:t>04 / 12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66;p16"/>
          <p:cNvSpPr/>
          <p:nvPr/>
        </p:nvSpPr>
        <p:spPr>
          <a:xfrm>
            <a:off x="581040" y="2549880"/>
            <a:ext cx="53478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Plus Jakarta Sans"/>
                <a:ea typeface="Plus Jakarta Sans"/>
              </a:rPr>
              <a:t>"A capacidade de entender o estado interno de uma aplicação de IA a partir de suas saídas externas expostas."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67;p16"/>
          <p:cNvSpPr/>
          <p:nvPr/>
        </p:nvSpPr>
        <p:spPr>
          <a:xfrm>
            <a:off x="581040" y="3349800"/>
            <a:ext cx="534780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Ao rastrear spans, monitorar a contagem de tokens, registrar a latência granular e mapear sistematicamente a qualidade semântica da resposta: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6" name="Google Shape;168;p16" descr="image.png"/>
          <p:cNvPicPr/>
          <p:nvPr/>
        </p:nvPicPr>
        <p:blipFill>
          <a:blip r:embed="rId5"/>
          <a:stretch/>
        </p:blipFill>
        <p:spPr>
          <a:xfrm>
            <a:off x="6272280" y="2117520"/>
            <a:ext cx="5328720" cy="30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Google Shape;169;p16"/>
          <p:cNvSpPr/>
          <p:nvPr/>
        </p:nvSpPr>
        <p:spPr>
          <a:xfrm>
            <a:off x="752400" y="485640"/>
            <a:ext cx="11401200" cy="4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2850" b="0" u="none" strike="noStrike">
                <a:solidFill>
                  <a:srgbClr val="FFFFFF"/>
                </a:solidFill>
                <a:effectLst/>
                <a:uFillTx/>
                <a:latin typeface="Plus Jakarta Sans ExtraBold"/>
                <a:ea typeface="Plus Jakarta Sans ExtraBold"/>
              </a:rPr>
              <a:t>O que é </a:t>
            </a:r>
            <a:r>
              <a:rPr lang="en-US" sz="2850" b="0" u="none" strike="noStrike">
                <a:solidFill>
                  <a:srgbClr val="00E5FF"/>
                </a:solidFill>
                <a:effectLst/>
                <a:uFillTx/>
                <a:latin typeface="Plus Jakarta Sans ExtraBold"/>
                <a:ea typeface="Plus Jakarta Sans ExtraBold"/>
              </a:rPr>
              <a:t>Observabilidade em IA?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70;p16"/>
          <p:cNvSpPr/>
          <p:nvPr/>
        </p:nvSpPr>
        <p:spPr>
          <a:xfrm>
            <a:off x="581040" y="485640"/>
            <a:ext cx="47160" cy="433800"/>
          </a:xfrm>
          <a:prstGeom prst="rect">
            <a:avLst/>
          </a:prstGeom>
          <a:solidFill>
            <a:srgbClr val="00E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760" rIns="2376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75;p1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Google Shape;176;p17" descr="image.png"/>
          <p:cNvPicPr/>
          <p:nvPr/>
        </p:nvPicPr>
        <p:blipFill>
          <a:blip r:embed="rId2"/>
          <a:stretch/>
        </p:blipFill>
        <p:spPr>
          <a:xfrm>
            <a:off x="581040" y="6105600"/>
            <a:ext cx="1102968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Google Shape;177;p17"/>
          <p:cNvSpPr/>
          <p:nvPr/>
        </p:nvSpPr>
        <p:spPr>
          <a:xfrm>
            <a:off x="581040" y="6229440"/>
            <a:ext cx="1380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4748B"/>
                </a:solidFill>
                <a:effectLst/>
                <a:uFillTx/>
                <a:latin typeface="Plus Jakarta Sans"/>
                <a:ea typeface="Plus Jakarta Sans"/>
              </a:rPr>
              <a:t>IA </a:t>
            </a:r>
            <a:r>
              <a:rPr lang="en-US" sz="900" b="1" u="none" strike="noStrike">
                <a:solidFill>
                  <a:srgbClr val="00E5FF"/>
                </a:solidFill>
                <a:effectLst/>
                <a:uFillTx/>
                <a:latin typeface="Plus Jakarta Sans"/>
                <a:ea typeface="Plus Jakarta Sans"/>
              </a:rPr>
              <a:t>OBSERVABILIDADE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78;p17"/>
          <p:cNvSpPr/>
          <p:nvPr/>
        </p:nvSpPr>
        <p:spPr>
          <a:xfrm>
            <a:off x="11144160" y="6234120"/>
            <a:ext cx="46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475569"/>
                </a:solidFill>
                <a:effectLst/>
                <a:uFillTx/>
                <a:latin typeface="JetBrains Mono"/>
                <a:ea typeface="JetBrains Mono"/>
              </a:rPr>
              <a:t>05 / 12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3" name="Google Shape;179;p17"/>
          <p:cNvGraphicFramePr/>
          <p:nvPr/>
        </p:nvGraphicFramePr>
        <p:xfrm>
          <a:off x="581040" y="2393640"/>
          <a:ext cx="11029680" cy="2476080"/>
        </p:xfrm>
        <a:graphic>
          <a:graphicData uri="http://schemas.openxmlformats.org/drawingml/2006/table">
            <a:tbl>
              <a:tblPr/>
              <a:tblGrid>
                <a:gridCol w="5143320"/>
                <a:gridCol w="3045240"/>
                <a:gridCol w="2840760"/>
              </a:tblGrid>
              <a:tr h="41256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1" u="none" strike="noStrike">
                          <a:solidFill>
                            <a:srgbClr val="00E5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Pergunta Crítica da Equipe de Engenharia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B1329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1" u="none" strike="noStrike">
                          <a:solidFill>
                            <a:srgbClr val="00E5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Abordagem de Resolução Técnica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B1329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1" u="none" strike="noStrike">
                          <a:solidFill>
                            <a:srgbClr val="00E5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Atributo Observado no MLflow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B1329"/>
                    </a:solidFill>
                  </a:tcPr>
                </a:tc>
              </a:tr>
              <a:tr h="41256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O que o usuário enviou e qual foi a resposta final exata gerada?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Tracing Automatizado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Input / Output payload final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1256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Qual ferramenta (tool) o agente acionou? Houve lentidão ou erro?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Spans Customizados de Tool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Duração interna e payload do Span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41256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Por que o custo de computação explodiu sem aviso no mês?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Token tracking de custos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Metadados e tags de uso de tokens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1256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A resposta gerada estava tecnicamente certa e livre de alucinações?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Avaliação contínua (Judges)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Technical accuracy &amp; Code scores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41256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Qual foi a versão do prompt ativo que gerou o incidente relatado?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Versionamento de prompts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Tag de ID de prompt no trace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sp>
        <p:nvSpPr>
          <p:cNvPr id="114" name="Google Shape;180;p17"/>
          <p:cNvSpPr/>
          <p:nvPr/>
        </p:nvSpPr>
        <p:spPr>
          <a:xfrm>
            <a:off x="581040" y="2808000"/>
            <a:ext cx="514332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81;p17"/>
          <p:cNvSpPr/>
          <p:nvPr/>
        </p:nvSpPr>
        <p:spPr>
          <a:xfrm>
            <a:off x="581040" y="2398320"/>
            <a:ext cx="5143320" cy="900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82;p17"/>
          <p:cNvSpPr/>
          <p:nvPr/>
        </p:nvSpPr>
        <p:spPr>
          <a:xfrm>
            <a:off x="5724720" y="2808000"/>
            <a:ext cx="304488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83;p17"/>
          <p:cNvSpPr/>
          <p:nvPr/>
        </p:nvSpPr>
        <p:spPr>
          <a:xfrm>
            <a:off x="5724720" y="2398320"/>
            <a:ext cx="3044880" cy="900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84;p17"/>
          <p:cNvSpPr/>
          <p:nvPr/>
        </p:nvSpPr>
        <p:spPr>
          <a:xfrm>
            <a:off x="8769960" y="2808000"/>
            <a:ext cx="284076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85;p17"/>
          <p:cNvSpPr/>
          <p:nvPr/>
        </p:nvSpPr>
        <p:spPr>
          <a:xfrm>
            <a:off x="8769960" y="2398320"/>
            <a:ext cx="2840760" cy="900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86;p17"/>
          <p:cNvSpPr/>
          <p:nvPr/>
        </p:nvSpPr>
        <p:spPr>
          <a:xfrm>
            <a:off x="581040" y="3217680"/>
            <a:ext cx="514332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87;p17"/>
          <p:cNvSpPr/>
          <p:nvPr/>
        </p:nvSpPr>
        <p:spPr>
          <a:xfrm>
            <a:off x="5724720" y="3217680"/>
            <a:ext cx="304488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88;p17"/>
          <p:cNvSpPr/>
          <p:nvPr/>
        </p:nvSpPr>
        <p:spPr>
          <a:xfrm>
            <a:off x="8769960" y="3217680"/>
            <a:ext cx="284076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89;p17"/>
          <p:cNvSpPr/>
          <p:nvPr/>
        </p:nvSpPr>
        <p:spPr>
          <a:xfrm>
            <a:off x="581040" y="3627000"/>
            <a:ext cx="514332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90;p17"/>
          <p:cNvSpPr/>
          <p:nvPr/>
        </p:nvSpPr>
        <p:spPr>
          <a:xfrm>
            <a:off x="5724720" y="3627000"/>
            <a:ext cx="304488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191;p17"/>
          <p:cNvSpPr/>
          <p:nvPr/>
        </p:nvSpPr>
        <p:spPr>
          <a:xfrm>
            <a:off x="8769960" y="3627000"/>
            <a:ext cx="284076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92;p17"/>
          <p:cNvSpPr/>
          <p:nvPr/>
        </p:nvSpPr>
        <p:spPr>
          <a:xfrm>
            <a:off x="581040" y="4036680"/>
            <a:ext cx="514332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93;p17"/>
          <p:cNvSpPr/>
          <p:nvPr/>
        </p:nvSpPr>
        <p:spPr>
          <a:xfrm>
            <a:off x="5724720" y="4036680"/>
            <a:ext cx="304488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194;p17"/>
          <p:cNvSpPr/>
          <p:nvPr/>
        </p:nvSpPr>
        <p:spPr>
          <a:xfrm>
            <a:off x="8769960" y="4036680"/>
            <a:ext cx="284076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95;p17"/>
          <p:cNvSpPr/>
          <p:nvPr/>
        </p:nvSpPr>
        <p:spPr>
          <a:xfrm>
            <a:off x="581040" y="4446360"/>
            <a:ext cx="514332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96;p17"/>
          <p:cNvSpPr/>
          <p:nvPr/>
        </p:nvSpPr>
        <p:spPr>
          <a:xfrm>
            <a:off x="5724720" y="4446360"/>
            <a:ext cx="304488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97;p17"/>
          <p:cNvSpPr/>
          <p:nvPr/>
        </p:nvSpPr>
        <p:spPr>
          <a:xfrm>
            <a:off x="8769960" y="4446360"/>
            <a:ext cx="284076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98;p17"/>
          <p:cNvSpPr/>
          <p:nvPr/>
        </p:nvSpPr>
        <p:spPr>
          <a:xfrm>
            <a:off x="581040" y="4855680"/>
            <a:ext cx="514332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99;p17"/>
          <p:cNvSpPr/>
          <p:nvPr/>
        </p:nvSpPr>
        <p:spPr>
          <a:xfrm>
            <a:off x="5724720" y="4855680"/>
            <a:ext cx="304488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200;p17"/>
          <p:cNvSpPr/>
          <p:nvPr/>
        </p:nvSpPr>
        <p:spPr>
          <a:xfrm>
            <a:off x="8769960" y="4855680"/>
            <a:ext cx="284076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201;p17"/>
          <p:cNvSpPr/>
          <p:nvPr/>
        </p:nvSpPr>
        <p:spPr>
          <a:xfrm>
            <a:off x="752400" y="485640"/>
            <a:ext cx="11401200" cy="4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2850" b="0" u="none" strike="noStrike">
                <a:solidFill>
                  <a:srgbClr val="FFFFFF"/>
                </a:solidFill>
                <a:effectLst/>
                <a:uFillTx/>
                <a:latin typeface="Plus Jakarta Sans ExtraBold"/>
                <a:ea typeface="Plus Jakarta Sans ExtraBold"/>
              </a:rPr>
              <a:t>Mapeamento de Produção: </a:t>
            </a:r>
            <a:r>
              <a:rPr lang="en-US" sz="2850" b="0" u="none" strike="noStrike">
                <a:solidFill>
                  <a:srgbClr val="00E5FF"/>
                </a:solidFill>
                <a:effectLst/>
                <a:uFillTx/>
                <a:latin typeface="Plus Jakarta Sans ExtraBold"/>
                <a:ea typeface="Plus Jakarta Sans ExtraBold"/>
              </a:rPr>
              <a:t>Dúvida vs. Solução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202;p17"/>
          <p:cNvSpPr/>
          <p:nvPr/>
        </p:nvSpPr>
        <p:spPr>
          <a:xfrm>
            <a:off x="581040" y="485640"/>
            <a:ext cx="47160" cy="433800"/>
          </a:xfrm>
          <a:prstGeom prst="rect">
            <a:avLst/>
          </a:prstGeom>
          <a:solidFill>
            <a:srgbClr val="00E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760" rIns="2376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207;p18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" name="Google Shape;208;p18" descr="image.png"/>
          <p:cNvPicPr/>
          <p:nvPr/>
        </p:nvPicPr>
        <p:blipFill>
          <a:blip r:embed="rId2"/>
          <a:stretch/>
        </p:blipFill>
        <p:spPr>
          <a:xfrm>
            <a:off x="6262560" y="2107800"/>
            <a:ext cx="5347800" cy="304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Google Shape;209;p18" descr="image.png"/>
          <p:cNvPicPr/>
          <p:nvPr/>
        </p:nvPicPr>
        <p:blipFill>
          <a:blip r:embed="rId3"/>
          <a:stretch/>
        </p:blipFill>
        <p:spPr>
          <a:xfrm>
            <a:off x="581040" y="2064240"/>
            <a:ext cx="5347800" cy="292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Google Shape;210;p18" descr="image.png"/>
          <p:cNvPicPr/>
          <p:nvPr/>
        </p:nvPicPr>
        <p:blipFill>
          <a:blip r:embed="rId4"/>
          <a:stretch/>
        </p:blipFill>
        <p:spPr>
          <a:xfrm>
            <a:off x="581040" y="6105600"/>
            <a:ext cx="1102968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Google Shape;211;p18"/>
          <p:cNvSpPr/>
          <p:nvPr/>
        </p:nvSpPr>
        <p:spPr>
          <a:xfrm>
            <a:off x="581040" y="6229440"/>
            <a:ext cx="1380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4748B"/>
                </a:solidFill>
                <a:effectLst/>
                <a:uFillTx/>
                <a:latin typeface="Plus Jakarta Sans"/>
                <a:ea typeface="Plus Jakarta Sans"/>
              </a:rPr>
              <a:t>IA </a:t>
            </a:r>
            <a:r>
              <a:rPr lang="en-US" sz="900" b="1" u="none" strike="noStrike">
                <a:solidFill>
                  <a:srgbClr val="00E5FF"/>
                </a:solidFill>
                <a:effectLst/>
                <a:uFillTx/>
                <a:latin typeface="Plus Jakarta Sans"/>
                <a:ea typeface="Plus Jakarta Sans"/>
              </a:rPr>
              <a:t>OBSERVABILIDADE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212;p18"/>
          <p:cNvSpPr/>
          <p:nvPr/>
        </p:nvSpPr>
        <p:spPr>
          <a:xfrm>
            <a:off x="11144160" y="6234120"/>
            <a:ext cx="46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475569"/>
                </a:solidFill>
                <a:effectLst/>
                <a:uFillTx/>
                <a:latin typeface="JetBrains Mono"/>
                <a:ea typeface="JetBrains Mono"/>
              </a:rPr>
              <a:t>06 / 12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213;p18"/>
          <p:cNvSpPr/>
          <p:nvPr/>
        </p:nvSpPr>
        <p:spPr>
          <a:xfrm>
            <a:off x="581040" y="1706040"/>
            <a:ext cx="53478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Instrumentação nativa do SDK: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214;p18"/>
          <p:cNvSpPr/>
          <p:nvPr/>
        </p:nvSpPr>
        <p:spPr>
          <a:xfrm>
            <a:off x="581040" y="5131080"/>
            <a:ext cx="53478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tIns="0" rIns="0" bIns="0" anchor="t">
            <a:spAutoFit/>
          </a:bodyPr>
          <a:p>
            <a:pPr>
              <a:lnSpc>
                <a:spcPct val="159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Visibilidade imediata:</a:t>
            </a: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 Traces, latências, custos e dados brutos gerados sem mudar a estrutura de chamadas da aplicação.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5" name="Google Shape;215;p18" descr="image.png"/>
          <p:cNvPicPr/>
          <p:nvPr/>
        </p:nvPicPr>
        <p:blipFill>
          <a:blip r:embed="rId5"/>
          <a:stretch/>
        </p:blipFill>
        <p:spPr>
          <a:xfrm>
            <a:off x="6272280" y="2117520"/>
            <a:ext cx="5328720" cy="30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Google Shape;216;p18"/>
          <p:cNvSpPr/>
          <p:nvPr/>
        </p:nvSpPr>
        <p:spPr>
          <a:xfrm>
            <a:off x="5065200" y="2121120"/>
            <a:ext cx="73008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4B5563"/>
                </a:solidFill>
                <a:effectLst/>
                <a:uFillTx/>
                <a:latin typeface="JetBrains Mono"/>
                <a:ea typeface="JetBrains Mono"/>
              </a:rPr>
              <a:t>PYTHON ENGINE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217;p18"/>
          <p:cNvSpPr/>
          <p:nvPr/>
        </p:nvSpPr>
        <p:spPr>
          <a:xfrm>
            <a:off x="781200" y="22356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import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218;p18"/>
          <p:cNvSpPr/>
          <p:nvPr/>
        </p:nvSpPr>
        <p:spPr>
          <a:xfrm>
            <a:off x="781200" y="2421360"/>
            <a:ext cx="3045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from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219;p18"/>
          <p:cNvSpPr/>
          <p:nvPr/>
        </p:nvSpPr>
        <p:spPr>
          <a:xfrm>
            <a:off x="2990880" y="242136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import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220;p18"/>
          <p:cNvSpPr/>
          <p:nvPr/>
        </p:nvSpPr>
        <p:spPr>
          <a:xfrm>
            <a:off x="781200" y="2792880"/>
            <a:ext cx="18284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D2A8FF"/>
                </a:solidFill>
                <a:effectLst/>
                <a:uFillTx/>
                <a:latin typeface="JetBrains Mono"/>
                <a:ea typeface="JetBrains Mono"/>
              </a:rPr>
              <a:t>@mlflow.openai.autolog()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221;p18"/>
          <p:cNvSpPr/>
          <p:nvPr/>
        </p:nvSpPr>
        <p:spPr>
          <a:xfrm>
            <a:off x="781200" y="2792880"/>
            <a:ext cx="457164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i="1" u="none" strike="noStrike">
                <a:solidFill>
                  <a:srgbClr val="8B949E"/>
                </a:solidFill>
                <a:effectLst/>
                <a:uFillTx/>
                <a:latin typeface="JetBrains Mono"/>
                <a:ea typeface="JetBrains Mono"/>
              </a:rPr>
              <a:t># Captura inputs, outputs, tokens e latência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222;p18"/>
          <p:cNvSpPr/>
          <p:nvPr/>
        </p:nvSpPr>
        <p:spPr>
          <a:xfrm>
            <a:off x="781200" y="3164400"/>
            <a:ext cx="2282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def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223;p18"/>
          <p:cNvSpPr/>
          <p:nvPr/>
        </p:nvSpPr>
        <p:spPr>
          <a:xfrm>
            <a:off x="1085760" y="3164400"/>
            <a:ext cx="1294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79C0FF"/>
                </a:solidFill>
                <a:effectLst/>
                <a:uFillTx/>
                <a:latin typeface="JetBrains Mono"/>
                <a:ea typeface="JetBrains Mono"/>
              </a:rPr>
              <a:t>demo_auto_tracing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224;p18"/>
          <p:cNvSpPr/>
          <p:nvPr/>
        </p:nvSpPr>
        <p:spPr>
          <a:xfrm>
            <a:off x="1771560" y="3349800"/>
            <a:ext cx="7617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79C0FF"/>
                </a:solidFill>
                <a:effectLst/>
                <a:uFillTx/>
                <a:latin typeface="JetBrains Mono"/>
                <a:ea typeface="JetBrains Mono"/>
              </a:rPr>
              <a:t>get_client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225;p18"/>
          <p:cNvSpPr/>
          <p:nvPr/>
        </p:nvSpPr>
        <p:spPr>
          <a:xfrm>
            <a:off x="3753000" y="353556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79C0FF"/>
                </a:solidFill>
                <a:effectLst/>
                <a:uFillTx/>
                <a:latin typeface="JetBrains Mono"/>
                <a:ea typeface="JetBrains Mono"/>
              </a:rPr>
              <a:t>create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226;p18"/>
          <p:cNvSpPr/>
          <p:nvPr/>
        </p:nvSpPr>
        <p:spPr>
          <a:xfrm>
            <a:off x="2228760" y="39070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A5D6FF"/>
                </a:solidFill>
                <a:effectLst/>
                <a:uFillTx/>
                <a:latin typeface="JetBrains Mono"/>
                <a:ea typeface="JetBrains Mono"/>
              </a:rPr>
              <a:t>"role"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227;p18"/>
          <p:cNvSpPr/>
          <p:nvPr/>
        </p:nvSpPr>
        <p:spPr>
          <a:xfrm>
            <a:off x="2838600" y="390708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A5D6FF"/>
                </a:solidFill>
                <a:effectLst/>
                <a:uFillTx/>
                <a:latin typeface="JetBrains Mono"/>
                <a:ea typeface="JetBrains Mono"/>
              </a:rPr>
              <a:t>"user"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228;p18"/>
          <p:cNvSpPr/>
          <p:nvPr/>
        </p:nvSpPr>
        <p:spPr>
          <a:xfrm>
            <a:off x="3448080" y="3907080"/>
            <a:ext cx="6854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A5D6FF"/>
                </a:solidFill>
                <a:effectLst/>
                <a:uFillTx/>
                <a:latin typeface="JetBrains Mono"/>
                <a:ea typeface="JetBrains Mono"/>
              </a:rPr>
              <a:t>"content"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229;p18"/>
          <p:cNvSpPr/>
          <p:nvPr/>
        </p:nvSpPr>
        <p:spPr>
          <a:xfrm>
            <a:off x="781200" y="3907080"/>
            <a:ext cx="411444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A5D6FF"/>
                </a:solidFill>
                <a:effectLst/>
                <a:uFillTx/>
                <a:latin typeface="JetBrains Mono"/>
                <a:ea typeface="JetBrains Mono"/>
              </a:rPr>
              <a:t>"O que é observabilidade?"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230;p18"/>
          <p:cNvSpPr/>
          <p:nvPr/>
        </p:nvSpPr>
        <p:spPr>
          <a:xfrm>
            <a:off x="1619280" y="4464360"/>
            <a:ext cx="19047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79C0FF"/>
                </a:solidFill>
                <a:effectLst/>
                <a:uFillTx/>
                <a:latin typeface="JetBrains Mono"/>
                <a:ea typeface="JetBrains Mono"/>
              </a:rPr>
              <a:t>flush_trace_async_logging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231;p18"/>
          <p:cNvSpPr/>
          <p:nvPr/>
        </p:nvSpPr>
        <p:spPr>
          <a:xfrm>
            <a:off x="781200" y="4464360"/>
            <a:ext cx="4571640" cy="3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i="1" u="none" strike="noStrike">
                <a:solidFill>
                  <a:srgbClr val="8B949E"/>
                </a:solidFill>
                <a:effectLst/>
                <a:uFillTx/>
                <a:latin typeface="JetBrains Mono"/>
                <a:ea typeface="JetBrains Mono"/>
              </a:rPr>
              <a:t># Sincroniza envio de logs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2" name="Google Shape;232;p18" descr="image.png"/>
          <p:cNvPicPr/>
          <p:nvPr/>
        </p:nvPicPr>
        <p:blipFill>
          <a:blip r:embed="rId6"/>
          <a:stretch/>
        </p:blipFill>
        <p:spPr>
          <a:xfrm>
            <a:off x="581040" y="5178600"/>
            <a:ext cx="104400" cy="13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Google Shape;233;p18"/>
          <p:cNvSpPr/>
          <p:nvPr/>
        </p:nvSpPr>
        <p:spPr>
          <a:xfrm>
            <a:off x="752400" y="485640"/>
            <a:ext cx="11401200" cy="4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2850" b="0" u="none" strike="noStrike">
                <a:solidFill>
                  <a:srgbClr val="FFFFFF"/>
                </a:solidFill>
                <a:effectLst/>
                <a:uFillTx/>
                <a:latin typeface="Plus Jakarta Sans ExtraBold"/>
                <a:ea typeface="Plus Jakarta Sans ExtraBold"/>
              </a:rPr>
              <a:t>Demo 1: </a:t>
            </a:r>
            <a:r>
              <a:rPr lang="en-US" sz="2850" b="0" u="none" strike="noStrike">
                <a:solidFill>
                  <a:srgbClr val="00E5FF"/>
                </a:solidFill>
                <a:effectLst/>
                <a:uFillTx/>
                <a:latin typeface="Plus Jakarta Sans ExtraBold"/>
                <a:ea typeface="Plus Jakarta Sans ExtraBold"/>
              </a:rPr>
              <a:t>Auto-Tracing em 1 Linha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234;p18"/>
          <p:cNvSpPr/>
          <p:nvPr/>
        </p:nvSpPr>
        <p:spPr>
          <a:xfrm>
            <a:off x="581040" y="485640"/>
            <a:ext cx="47160" cy="433800"/>
          </a:xfrm>
          <a:prstGeom prst="rect">
            <a:avLst/>
          </a:prstGeom>
          <a:solidFill>
            <a:srgbClr val="00E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760" rIns="2376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239;p19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Google Shape;240;p19" descr="image.png"/>
          <p:cNvPicPr/>
          <p:nvPr/>
        </p:nvPicPr>
        <p:blipFill>
          <a:blip r:embed="rId2"/>
          <a:stretch/>
        </p:blipFill>
        <p:spPr>
          <a:xfrm>
            <a:off x="6262560" y="2083680"/>
            <a:ext cx="5347800" cy="309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Google Shape;241;p19" descr="image.png"/>
          <p:cNvPicPr/>
          <p:nvPr/>
        </p:nvPicPr>
        <p:blipFill>
          <a:blip r:embed="rId3"/>
          <a:stretch/>
        </p:blipFill>
        <p:spPr>
          <a:xfrm>
            <a:off x="581040" y="2441520"/>
            <a:ext cx="5347800" cy="273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Google Shape;242;p19" descr="image.png"/>
          <p:cNvPicPr/>
          <p:nvPr/>
        </p:nvPicPr>
        <p:blipFill>
          <a:blip r:embed="rId4"/>
          <a:stretch/>
        </p:blipFill>
        <p:spPr>
          <a:xfrm>
            <a:off x="581040" y="6105600"/>
            <a:ext cx="1102968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Google Shape;243;p19"/>
          <p:cNvSpPr/>
          <p:nvPr/>
        </p:nvSpPr>
        <p:spPr>
          <a:xfrm>
            <a:off x="581040" y="6229440"/>
            <a:ext cx="1380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4748B"/>
                </a:solidFill>
                <a:effectLst/>
                <a:uFillTx/>
                <a:latin typeface="Plus Jakarta Sans"/>
                <a:ea typeface="Plus Jakarta Sans"/>
              </a:rPr>
              <a:t>IA </a:t>
            </a:r>
            <a:r>
              <a:rPr lang="en-US" sz="900" b="1" u="none" strike="noStrike">
                <a:solidFill>
                  <a:srgbClr val="00E5FF"/>
                </a:solidFill>
                <a:effectLst/>
                <a:uFillTx/>
                <a:latin typeface="Plus Jakarta Sans"/>
                <a:ea typeface="Plus Jakarta Sans"/>
              </a:rPr>
              <a:t>OBSERVABILIDADE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44;p19"/>
          <p:cNvSpPr/>
          <p:nvPr/>
        </p:nvSpPr>
        <p:spPr>
          <a:xfrm>
            <a:off x="11144160" y="6234120"/>
            <a:ext cx="46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475569"/>
                </a:solidFill>
                <a:effectLst/>
                <a:uFillTx/>
                <a:latin typeface="JetBrains Mono"/>
                <a:ea typeface="JetBrains Mono"/>
              </a:rPr>
              <a:t>07 / 12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45;p19"/>
          <p:cNvSpPr/>
          <p:nvPr/>
        </p:nvSpPr>
        <p:spPr>
          <a:xfrm>
            <a:off x="581040" y="2083680"/>
            <a:ext cx="53478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Estruturação de hierarquia de execução: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246;p19"/>
          <p:cNvSpPr/>
          <p:nvPr/>
        </p:nvSpPr>
        <p:spPr>
          <a:xfrm>
            <a:off x="6510240" y="2331360"/>
            <a:ext cx="509544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436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Plus Jakarta Sans ExtraBold"/>
                <a:ea typeface="Plus Jakarta Sans ExtraBold"/>
              </a:rPr>
              <a:t>Isolamento de Falhas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247;p19"/>
          <p:cNvSpPr/>
          <p:nvPr/>
        </p:nvSpPr>
        <p:spPr>
          <a:xfrm>
            <a:off x="6510240" y="2712240"/>
            <a:ext cx="48528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9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Quando a resposta final para o cliente final estiver errada, a visualização de árvore responde instantaneamente: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48;p19"/>
          <p:cNvSpPr/>
          <p:nvPr/>
        </p:nvSpPr>
        <p:spPr>
          <a:xfrm>
            <a:off x="5065200" y="2498760"/>
            <a:ext cx="73008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4B5563"/>
                </a:solidFill>
                <a:effectLst/>
                <a:uFillTx/>
                <a:latin typeface="JetBrains Mono"/>
                <a:ea typeface="JetBrains Mono"/>
              </a:rPr>
              <a:t>PYTHON ENGINE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249;p19"/>
          <p:cNvSpPr/>
          <p:nvPr/>
        </p:nvSpPr>
        <p:spPr>
          <a:xfrm>
            <a:off x="781200" y="2613240"/>
            <a:ext cx="9903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D2A8FF"/>
                </a:solidFill>
                <a:effectLst/>
                <a:uFillTx/>
                <a:latin typeface="JetBrains Mono"/>
                <a:ea typeface="JetBrains Mono"/>
              </a:rPr>
              <a:t>@mlflow.trace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250;p19"/>
          <p:cNvSpPr/>
          <p:nvPr/>
        </p:nvSpPr>
        <p:spPr>
          <a:xfrm>
            <a:off x="781200" y="2799000"/>
            <a:ext cx="2282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def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251;p19"/>
          <p:cNvSpPr/>
          <p:nvPr/>
        </p:nvSpPr>
        <p:spPr>
          <a:xfrm>
            <a:off x="1085760" y="2799000"/>
            <a:ext cx="1294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79C0FF"/>
                </a:solidFill>
                <a:effectLst/>
                <a:uFillTx/>
                <a:latin typeface="JetBrains Mono"/>
                <a:ea typeface="JetBrains Mono"/>
              </a:rPr>
              <a:t>demo_rag_pipeline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252;p19"/>
          <p:cNvSpPr/>
          <p:nvPr/>
        </p:nvSpPr>
        <p:spPr>
          <a:xfrm>
            <a:off x="1847880" y="2984760"/>
            <a:ext cx="12189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79C0FF"/>
                </a:solidFill>
                <a:effectLst/>
                <a:uFillTx/>
                <a:latin typeface="JetBrains Mono"/>
                <a:ea typeface="JetBrains Mono"/>
              </a:rPr>
              <a:t>retrieve_context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253;p19"/>
          <p:cNvSpPr/>
          <p:nvPr/>
        </p:nvSpPr>
        <p:spPr>
          <a:xfrm>
            <a:off x="3905280" y="2984760"/>
            <a:ext cx="10663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i="1" u="none" strike="noStrike">
                <a:solidFill>
                  <a:srgbClr val="8B949E"/>
                </a:solidFill>
                <a:effectLst/>
                <a:uFillTx/>
                <a:latin typeface="JetBrains Mono"/>
                <a:ea typeface="JetBrains Mono"/>
              </a:rPr>
              <a:t># Span filho 1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254;p19"/>
          <p:cNvSpPr/>
          <p:nvPr/>
        </p:nvSpPr>
        <p:spPr>
          <a:xfrm>
            <a:off x="1771560" y="3170160"/>
            <a:ext cx="11426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79C0FF"/>
                </a:solidFill>
                <a:effectLst/>
                <a:uFillTx/>
                <a:latin typeface="JetBrains Mono"/>
                <a:ea typeface="JetBrains Mono"/>
              </a:rPr>
              <a:t>generate_answer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255;p19"/>
          <p:cNvSpPr/>
          <p:nvPr/>
        </p:nvSpPr>
        <p:spPr>
          <a:xfrm>
            <a:off x="4438800" y="3170160"/>
            <a:ext cx="10663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i="1" u="none" strike="noStrike">
                <a:solidFill>
                  <a:srgbClr val="8B949E"/>
                </a:solidFill>
                <a:effectLst/>
                <a:uFillTx/>
                <a:latin typeface="JetBrains Mono"/>
                <a:ea typeface="JetBrains Mono"/>
              </a:rPr>
              <a:t># Span filho 2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256;p19"/>
          <p:cNvSpPr/>
          <p:nvPr/>
        </p:nvSpPr>
        <p:spPr>
          <a:xfrm>
            <a:off x="1085760" y="335592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return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257;p19"/>
          <p:cNvSpPr/>
          <p:nvPr/>
        </p:nvSpPr>
        <p:spPr>
          <a:xfrm>
            <a:off x="781200" y="3727440"/>
            <a:ext cx="2742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D2A8FF"/>
                </a:solidFill>
                <a:effectLst/>
                <a:uFillTx/>
                <a:latin typeface="JetBrains Mono"/>
                <a:ea typeface="JetBrains Mono"/>
              </a:rPr>
              <a:t>@mlflow.trace(span_type="RETRIEVER")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258;p19"/>
          <p:cNvSpPr/>
          <p:nvPr/>
        </p:nvSpPr>
        <p:spPr>
          <a:xfrm>
            <a:off x="781200" y="3913200"/>
            <a:ext cx="2282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def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259;p19"/>
          <p:cNvSpPr/>
          <p:nvPr/>
        </p:nvSpPr>
        <p:spPr>
          <a:xfrm>
            <a:off x="1085760" y="3913200"/>
            <a:ext cx="12189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79C0FF"/>
                </a:solidFill>
                <a:effectLst/>
                <a:uFillTx/>
                <a:latin typeface="JetBrains Mono"/>
                <a:ea typeface="JetBrains Mono"/>
              </a:rPr>
              <a:t>retrieve_context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60;p19"/>
          <p:cNvSpPr/>
          <p:nvPr/>
        </p:nvSpPr>
        <p:spPr>
          <a:xfrm>
            <a:off x="1085760" y="409896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return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261;p19"/>
          <p:cNvSpPr/>
          <p:nvPr/>
        </p:nvSpPr>
        <p:spPr>
          <a:xfrm>
            <a:off x="1619280" y="4098960"/>
            <a:ext cx="30477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A5D6FF"/>
                </a:solidFill>
                <a:effectLst/>
                <a:uFillTx/>
                <a:latin typeface="JetBrains Mono"/>
                <a:ea typeface="JetBrains Mono"/>
              </a:rPr>
              <a:t>"Contexto recuperado do Vector Database"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262;p19"/>
          <p:cNvSpPr/>
          <p:nvPr/>
        </p:nvSpPr>
        <p:spPr>
          <a:xfrm>
            <a:off x="781200" y="4470480"/>
            <a:ext cx="22856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D2A8FF"/>
                </a:solidFill>
                <a:effectLst/>
                <a:uFillTx/>
                <a:latin typeface="JetBrains Mono"/>
                <a:ea typeface="JetBrains Mono"/>
              </a:rPr>
              <a:t>@mlflow.trace(span_type="LLM")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263;p19"/>
          <p:cNvSpPr/>
          <p:nvPr/>
        </p:nvSpPr>
        <p:spPr>
          <a:xfrm>
            <a:off x="781200" y="4656240"/>
            <a:ext cx="2282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def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64;p19"/>
          <p:cNvSpPr/>
          <p:nvPr/>
        </p:nvSpPr>
        <p:spPr>
          <a:xfrm>
            <a:off x="1085760" y="4656240"/>
            <a:ext cx="11426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79C0FF"/>
                </a:solidFill>
                <a:effectLst/>
                <a:uFillTx/>
                <a:latin typeface="JetBrains Mono"/>
                <a:ea typeface="JetBrains Mono"/>
              </a:rPr>
              <a:t>generate_answer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265;p19"/>
          <p:cNvSpPr/>
          <p:nvPr/>
        </p:nvSpPr>
        <p:spPr>
          <a:xfrm>
            <a:off x="1085760" y="48420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return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266;p19"/>
          <p:cNvSpPr/>
          <p:nvPr/>
        </p:nvSpPr>
        <p:spPr>
          <a:xfrm>
            <a:off x="1619280" y="4842000"/>
            <a:ext cx="20570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A5D6FF"/>
                </a:solidFill>
                <a:effectLst/>
                <a:uFillTx/>
                <a:latin typeface="JetBrains Mono"/>
                <a:ea typeface="JetBrains Mono"/>
              </a:rPr>
              <a:t>"Resposta final construída"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3" name="Google Shape;267;p19" descr="image.png"/>
          <p:cNvPicPr/>
          <p:nvPr/>
        </p:nvPicPr>
        <p:blipFill>
          <a:blip r:embed="rId5"/>
          <a:stretch/>
        </p:blipFill>
        <p:spPr>
          <a:xfrm>
            <a:off x="6510240" y="2369520"/>
            <a:ext cx="2340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Google Shape;268;p19"/>
          <p:cNvSpPr/>
          <p:nvPr/>
        </p:nvSpPr>
        <p:spPr>
          <a:xfrm>
            <a:off x="6815160" y="3252960"/>
            <a:ext cx="454788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Plus Jakarta Sans SemiBold"/>
                <a:ea typeface="Plus Jakarta Sans SemiBold"/>
              </a:rPr>
              <a:t>Falha no Retriever:</a:t>
            </a: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Plus Jakarta Sans"/>
                <a:ea typeface="Plus Jakarta Sans"/>
              </a:rPr>
              <a:t> Os documentos recuperados não continham a resposta (contexto irrelevante).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269;p19"/>
          <p:cNvSpPr/>
          <p:nvPr/>
        </p:nvSpPr>
        <p:spPr>
          <a:xfrm>
            <a:off x="6815160" y="3763440"/>
            <a:ext cx="454788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FFFF"/>
                </a:solidFill>
                <a:effectLst/>
                <a:uFillTx/>
                <a:latin typeface="Plus Jakarta Sans SemiBold"/>
                <a:ea typeface="Plus Jakarta Sans SemiBold"/>
              </a:rPr>
              <a:t>Falha na Geração:</a:t>
            </a: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Plus Jakarta Sans"/>
                <a:ea typeface="Plus Jakarta Sans"/>
              </a:rPr>
              <a:t> O contexto estava correto, mas o modelo de linguagem falhou na lógica de extração.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270;p19"/>
          <p:cNvSpPr/>
          <p:nvPr/>
        </p:nvSpPr>
        <p:spPr>
          <a:xfrm>
            <a:off x="6558120" y="3233880"/>
            <a:ext cx="85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E5FF"/>
                </a:solidFill>
                <a:effectLst/>
                <a:uFillTx/>
                <a:latin typeface="Plus Jakarta Sans"/>
                <a:ea typeface="Plus Jakarta Sans"/>
              </a:rPr>
              <a:t>•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271;p19"/>
          <p:cNvSpPr/>
          <p:nvPr/>
        </p:nvSpPr>
        <p:spPr>
          <a:xfrm>
            <a:off x="6558120" y="3744360"/>
            <a:ext cx="85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E5FF"/>
                </a:solidFill>
                <a:effectLst/>
                <a:uFillTx/>
                <a:latin typeface="Plus Jakarta Sans"/>
                <a:ea typeface="Plus Jakarta Sans"/>
              </a:rPr>
              <a:t>•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8" name="Google Shape;272;p19" descr="image.png"/>
          <p:cNvPicPr/>
          <p:nvPr/>
        </p:nvPicPr>
        <p:blipFill>
          <a:blip r:embed="rId6"/>
          <a:stretch/>
        </p:blipFill>
        <p:spPr>
          <a:xfrm>
            <a:off x="6558120" y="3291120"/>
            <a:ext cx="13284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Google Shape;273;p19" descr="image.png"/>
          <p:cNvPicPr/>
          <p:nvPr/>
        </p:nvPicPr>
        <p:blipFill>
          <a:blip r:embed="rId7"/>
          <a:stretch/>
        </p:blipFill>
        <p:spPr>
          <a:xfrm>
            <a:off x="6558120" y="380160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Google Shape;274;p19"/>
          <p:cNvSpPr/>
          <p:nvPr/>
        </p:nvSpPr>
        <p:spPr>
          <a:xfrm>
            <a:off x="752400" y="485640"/>
            <a:ext cx="11401200" cy="4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2850" b="0" u="none" strike="noStrike">
                <a:solidFill>
                  <a:srgbClr val="FFFFFF"/>
                </a:solidFill>
                <a:effectLst/>
                <a:uFillTx/>
                <a:latin typeface="Plus Jakarta Sans ExtraBold"/>
                <a:ea typeface="Plus Jakarta Sans ExtraBold"/>
              </a:rPr>
              <a:t>Demo 2: </a:t>
            </a:r>
            <a:r>
              <a:rPr lang="en-US" sz="2850" b="0" u="none" strike="noStrike">
                <a:solidFill>
                  <a:srgbClr val="00E5FF"/>
                </a:solidFill>
                <a:effectLst/>
                <a:uFillTx/>
                <a:latin typeface="Plus Jakarta Sans ExtraBold"/>
                <a:ea typeface="Plus Jakarta Sans ExtraBold"/>
              </a:rPr>
              <a:t>Spans Aninhados (Padrão RAG)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275;p19"/>
          <p:cNvSpPr/>
          <p:nvPr/>
        </p:nvSpPr>
        <p:spPr>
          <a:xfrm>
            <a:off x="581040" y="485640"/>
            <a:ext cx="47160" cy="433800"/>
          </a:xfrm>
          <a:prstGeom prst="rect">
            <a:avLst/>
          </a:prstGeom>
          <a:solidFill>
            <a:srgbClr val="00E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760" rIns="2376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80;p20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3" name="Google Shape;281;p20" descr="image.png"/>
          <p:cNvPicPr/>
          <p:nvPr/>
        </p:nvPicPr>
        <p:blipFill>
          <a:blip r:embed="rId2"/>
          <a:stretch/>
        </p:blipFill>
        <p:spPr>
          <a:xfrm>
            <a:off x="6262560" y="2636640"/>
            <a:ext cx="5347800" cy="19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4" name="Google Shape;282;p20" descr="image.png"/>
          <p:cNvPicPr/>
          <p:nvPr/>
        </p:nvPicPr>
        <p:blipFill>
          <a:blip r:embed="rId3"/>
          <a:stretch/>
        </p:blipFill>
        <p:spPr>
          <a:xfrm>
            <a:off x="581040" y="2163240"/>
            <a:ext cx="5347800" cy="329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" name="Google Shape;283;p20" descr="image.png"/>
          <p:cNvPicPr/>
          <p:nvPr/>
        </p:nvPicPr>
        <p:blipFill>
          <a:blip r:embed="rId4"/>
          <a:stretch/>
        </p:blipFill>
        <p:spPr>
          <a:xfrm>
            <a:off x="581040" y="6105600"/>
            <a:ext cx="1102968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Google Shape;284;p20"/>
          <p:cNvSpPr/>
          <p:nvPr/>
        </p:nvSpPr>
        <p:spPr>
          <a:xfrm>
            <a:off x="581040" y="6229440"/>
            <a:ext cx="1380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4748B"/>
                </a:solidFill>
                <a:effectLst/>
                <a:uFillTx/>
                <a:latin typeface="Plus Jakarta Sans"/>
                <a:ea typeface="Plus Jakarta Sans"/>
              </a:rPr>
              <a:t>IA </a:t>
            </a:r>
            <a:r>
              <a:rPr lang="en-US" sz="900" b="1" u="none" strike="noStrike">
                <a:solidFill>
                  <a:srgbClr val="00E5FF"/>
                </a:solidFill>
                <a:effectLst/>
                <a:uFillTx/>
                <a:latin typeface="Plus Jakarta Sans"/>
                <a:ea typeface="Plus Jakarta Sans"/>
              </a:rPr>
              <a:t>OBSERVABILIDADE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Google Shape;285;p20"/>
          <p:cNvSpPr/>
          <p:nvPr/>
        </p:nvSpPr>
        <p:spPr>
          <a:xfrm>
            <a:off x="11144160" y="6234120"/>
            <a:ext cx="46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475569"/>
                </a:solidFill>
                <a:effectLst/>
                <a:uFillTx/>
                <a:latin typeface="JetBrains Mono"/>
                <a:ea typeface="JetBrains Mono"/>
              </a:rPr>
              <a:t>08 / 12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Google Shape;286;p20"/>
          <p:cNvSpPr/>
          <p:nvPr/>
        </p:nvSpPr>
        <p:spPr>
          <a:xfrm>
            <a:off x="581040" y="1805040"/>
            <a:ext cx="53478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Necessário para modelos customizados e Self-Hosted: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Google Shape;287;p20"/>
          <p:cNvSpPr/>
          <p:nvPr/>
        </p:nvSpPr>
        <p:spPr>
          <a:xfrm>
            <a:off x="6510240" y="2884320"/>
            <a:ext cx="50954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812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Plus Jakarta Sans ExtraBold"/>
                <a:ea typeface="Plus Jakarta Sans ExtraBold"/>
              </a:rPr>
              <a:t>Controle Orçamentário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Google Shape;288;p20"/>
          <p:cNvSpPr/>
          <p:nvPr/>
        </p:nvSpPr>
        <p:spPr>
          <a:xfrm>
            <a:off x="6510240" y="3217680"/>
            <a:ext cx="48528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9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Enquanto provedores como OpenAI e Anthropic têm custos mapeados de forma automática no MLflow, servidores locais ou infraestrutura própria necessitam de injeção explícita de custos.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Google Shape;289;p20"/>
          <p:cNvSpPr/>
          <p:nvPr/>
        </p:nvSpPr>
        <p:spPr>
          <a:xfrm>
            <a:off x="6510240" y="3952800"/>
            <a:ext cx="48528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9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Utilize esses atributos para rastrear o "Cost Breakdown" e o consumo detalhado por trace de forma a auditar saltos de gastos.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Google Shape;290;p20"/>
          <p:cNvSpPr/>
          <p:nvPr/>
        </p:nvSpPr>
        <p:spPr>
          <a:xfrm>
            <a:off x="5065200" y="2220120"/>
            <a:ext cx="73008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4B5563"/>
                </a:solidFill>
                <a:effectLst/>
                <a:uFillTx/>
                <a:latin typeface="JetBrains Mono"/>
                <a:ea typeface="JetBrains Mono"/>
              </a:rPr>
              <a:t>PYTHON ENGINE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Google Shape;291;p20"/>
          <p:cNvSpPr/>
          <p:nvPr/>
        </p:nvSpPr>
        <p:spPr>
          <a:xfrm>
            <a:off x="781200" y="2334600"/>
            <a:ext cx="2282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def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Google Shape;292;p20"/>
          <p:cNvSpPr/>
          <p:nvPr/>
        </p:nvSpPr>
        <p:spPr>
          <a:xfrm>
            <a:off x="1085760" y="2334600"/>
            <a:ext cx="14475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79C0FF"/>
                </a:solidFill>
                <a:effectLst/>
                <a:uFillTx/>
                <a:latin typeface="JetBrains Mono"/>
                <a:ea typeface="JetBrains Mono"/>
              </a:rPr>
              <a:t>_set_usage_and_cost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293;p20"/>
          <p:cNvSpPr/>
          <p:nvPr/>
        </p:nvSpPr>
        <p:spPr>
          <a:xfrm>
            <a:off x="1467000" y="3634560"/>
            <a:ext cx="9903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79C0FF"/>
                </a:solidFill>
                <a:effectLst/>
                <a:uFillTx/>
                <a:latin typeface="JetBrains Mono"/>
                <a:ea typeface="JetBrains Mono"/>
              </a:rPr>
              <a:t>set_attribute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Google Shape;294;p20"/>
          <p:cNvSpPr/>
          <p:nvPr/>
        </p:nvSpPr>
        <p:spPr>
          <a:xfrm>
            <a:off x="2533680" y="3634560"/>
            <a:ext cx="18284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A5D6FF"/>
                </a:solidFill>
                <a:effectLst/>
                <a:uFillTx/>
                <a:latin typeface="JetBrains Mono"/>
                <a:ea typeface="JetBrains Mono"/>
              </a:rPr>
              <a:t>"mlflow.chat.tokenUsage"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Google Shape;295;p20"/>
          <p:cNvSpPr/>
          <p:nvPr/>
        </p:nvSpPr>
        <p:spPr>
          <a:xfrm>
            <a:off x="1390680" y="3820320"/>
            <a:ext cx="10663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A5D6FF"/>
                </a:solidFill>
                <a:effectLst/>
                <a:uFillTx/>
                <a:latin typeface="JetBrains Mono"/>
                <a:ea typeface="JetBrains Mono"/>
              </a:rPr>
              <a:t>"input_tokens"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296;p20"/>
          <p:cNvSpPr/>
          <p:nvPr/>
        </p:nvSpPr>
        <p:spPr>
          <a:xfrm>
            <a:off x="1390680" y="4006080"/>
            <a:ext cx="11426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A5D6FF"/>
                </a:solidFill>
                <a:effectLst/>
                <a:uFillTx/>
                <a:latin typeface="JetBrains Mono"/>
                <a:ea typeface="JetBrains Mono"/>
              </a:rPr>
              <a:t>"output_tokens"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297;p20"/>
          <p:cNvSpPr/>
          <p:nvPr/>
        </p:nvSpPr>
        <p:spPr>
          <a:xfrm>
            <a:off x="1467000" y="4377600"/>
            <a:ext cx="9903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79C0FF"/>
                </a:solidFill>
                <a:effectLst/>
                <a:uFillTx/>
                <a:latin typeface="JetBrains Mono"/>
                <a:ea typeface="JetBrains Mono"/>
              </a:rPr>
              <a:t>set_attribute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Google Shape;298;p20"/>
          <p:cNvSpPr/>
          <p:nvPr/>
        </p:nvSpPr>
        <p:spPr>
          <a:xfrm>
            <a:off x="2533680" y="4377600"/>
            <a:ext cx="1294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A5D6FF"/>
                </a:solidFill>
                <a:effectLst/>
                <a:uFillTx/>
                <a:latin typeface="JetBrains Mono"/>
                <a:ea typeface="JetBrains Mono"/>
              </a:rPr>
              <a:t>"mlflow.llm.cost"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299;p20"/>
          <p:cNvSpPr/>
          <p:nvPr/>
        </p:nvSpPr>
        <p:spPr>
          <a:xfrm>
            <a:off x="1390680" y="4563360"/>
            <a:ext cx="9140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A5D6FF"/>
                </a:solidFill>
                <a:effectLst/>
                <a:uFillTx/>
                <a:latin typeface="JetBrains Mono"/>
                <a:ea typeface="JetBrains Mono"/>
              </a:rPr>
              <a:t>"input_cost"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300;p20"/>
          <p:cNvSpPr/>
          <p:nvPr/>
        </p:nvSpPr>
        <p:spPr>
          <a:xfrm>
            <a:off x="1390680" y="4749120"/>
            <a:ext cx="9903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A5D6FF"/>
                </a:solidFill>
                <a:effectLst/>
                <a:uFillTx/>
                <a:latin typeface="JetBrains Mono"/>
                <a:ea typeface="JetBrains Mono"/>
              </a:rPr>
              <a:t>"output_cost"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Google Shape;301;p20"/>
          <p:cNvSpPr/>
          <p:nvPr/>
        </p:nvSpPr>
        <p:spPr>
          <a:xfrm>
            <a:off x="1390680" y="4934880"/>
            <a:ext cx="9140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A5D6FF"/>
                </a:solidFill>
                <a:effectLst/>
                <a:uFillTx/>
                <a:latin typeface="JetBrains Mono"/>
                <a:ea typeface="JetBrains Mono"/>
              </a:rPr>
              <a:t>"total_cost"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4" name="Google Shape;302;p20" descr="image.png"/>
          <p:cNvPicPr/>
          <p:nvPr/>
        </p:nvPicPr>
        <p:blipFill>
          <a:blip r:embed="rId5"/>
          <a:stretch/>
        </p:blipFill>
        <p:spPr>
          <a:xfrm>
            <a:off x="6510240" y="2922480"/>
            <a:ext cx="16776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Google Shape;303;p20"/>
          <p:cNvSpPr/>
          <p:nvPr/>
        </p:nvSpPr>
        <p:spPr>
          <a:xfrm>
            <a:off x="752400" y="485640"/>
            <a:ext cx="11401200" cy="4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2850" b="0" u="none" strike="noStrike">
                <a:solidFill>
                  <a:srgbClr val="FFFFFF"/>
                </a:solidFill>
                <a:effectLst/>
                <a:uFillTx/>
                <a:latin typeface="Plus Jakarta Sans ExtraBold"/>
                <a:ea typeface="Plus Jakarta Sans ExtraBold"/>
              </a:rPr>
              <a:t>Demo 3: </a:t>
            </a:r>
            <a:r>
              <a:rPr lang="en-US" sz="2850" b="0" u="none" strike="noStrike">
                <a:solidFill>
                  <a:srgbClr val="00E5FF"/>
                </a:solidFill>
                <a:effectLst/>
                <a:uFillTx/>
                <a:latin typeface="Plus Jakarta Sans ExtraBold"/>
                <a:ea typeface="Plus Jakarta Sans ExtraBold"/>
              </a:rPr>
              <a:t>Atribuição Manual de Custo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304;p20"/>
          <p:cNvSpPr/>
          <p:nvPr/>
        </p:nvSpPr>
        <p:spPr>
          <a:xfrm>
            <a:off x="581040" y="485640"/>
            <a:ext cx="47160" cy="433800"/>
          </a:xfrm>
          <a:prstGeom prst="rect">
            <a:avLst/>
          </a:prstGeom>
          <a:solidFill>
            <a:srgbClr val="00E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760" rIns="2376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309;p2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8" name="Google Shape;310;p21" descr="image.png"/>
          <p:cNvPicPr/>
          <p:nvPr/>
        </p:nvPicPr>
        <p:blipFill>
          <a:blip r:embed="rId2"/>
          <a:stretch/>
        </p:blipFill>
        <p:spPr>
          <a:xfrm>
            <a:off x="581040" y="2200320"/>
            <a:ext cx="5347800" cy="286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9" name="Google Shape;311;p21" descr="image.png"/>
          <p:cNvPicPr/>
          <p:nvPr/>
        </p:nvPicPr>
        <p:blipFill>
          <a:blip r:embed="rId3"/>
          <a:stretch/>
        </p:blipFill>
        <p:spPr>
          <a:xfrm>
            <a:off x="6262560" y="2200320"/>
            <a:ext cx="5347800" cy="286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0" name="Google Shape;312;p21" descr="image.png"/>
          <p:cNvPicPr/>
          <p:nvPr/>
        </p:nvPicPr>
        <p:blipFill>
          <a:blip r:embed="rId4"/>
          <a:stretch/>
        </p:blipFill>
        <p:spPr>
          <a:xfrm>
            <a:off x="838080" y="3263040"/>
            <a:ext cx="4833720" cy="1580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1" name="Google Shape;313;p21" descr="image.png"/>
          <p:cNvPicPr/>
          <p:nvPr/>
        </p:nvPicPr>
        <p:blipFill>
          <a:blip r:embed="rId5"/>
          <a:stretch/>
        </p:blipFill>
        <p:spPr>
          <a:xfrm>
            <a:off x="6519960" y="3263040"/>
            <a:ext cx="4833720" cy="142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2" name="Google Shape;314;p21" descr="image.png"/>
          <p:cNvPicPr/>
          <p:nvPr/>
        </p:nvPicPr>
        <p:blipFill>
          <a:blip r:embed="rId6"/>
          <a:stretch/>
        </p:blipFill>
        <p:spPr>
          <a:xfrm>
            <a:off x="581040" y="6105600"/>
            <a:ext cx="1102968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Google Shape;315;p21"/>
          <p:cNvSpPr/>
          <p:nvPr/>
        </p:nvSpPr>
        <p:spPr>
          <a:xfrm>
            <a:off x="581040" y="6229440"/>
            <a:ext cx="1380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4748B"/>
                </a:solidFill>
                <a:effectLst/>
                <a:uFillTx/>
                <a:latin typeface="Plus Jakarta Sans"/>
                <a:ea typeface="Plus Jakarta Sans"/>
              </a:rPr>
              <a:t>IA </a:t>
            </a:r>
            <a:r>
              <a:rPr lang="en-US" sz="900" b="1" u="none" strike="noStrike">
                <a:solidFill>
                  <a:srgbClr val="00E5FF"/>
                </a:solidFill>
                <a:effectLst/>
                <a:uFillTx/>
                <a:latin typeface="Plus Jakarta Sans"/>
                <a:ea typeface="Plus Jakarta Sans"/>
              </a:rPr>
              <a:t>OBSERVABILIDADE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Google Shape;316;p21"/>
          <p:cNvSpPr/>
          <p:nvPr/>
        </p:nvSpPr>
        <p:spPr>
          <a:xfrm>
            <a:off x="11144160" y="6234120"/>
            <a:ext cx="46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475569"/>
                </a:solidFill>
                <a:effectLst/>
                <a:uFillTx/>
                <a:latin typeface="JetBrains Mono"/>
                <a:ea typeface="JetBrains Mono"/>
              </a:rPr>
              <a:t>09 / 12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Google Shape;317;p21"/>
          <p:cNvSpPr/>
          <p:nvPr/>
        </p:nvSpPr>
        <p:spPr>
          <a:xfrm>
            <a:off x="1120320" y="2419200"/>
            <a:ext cx="47790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Plus Jakarta Sans ExtraBold"/>
                <a:ea typeface="Plus Jakarta Sans ExtraBold"/>
              </a:rPr>
              <a:t>LLM Judge (Semântico)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Google Shape;318;p21"/>
          <p:cNvSpPr/>
          <p:nvPr/>
        </p:nvSpPr>
        <p:spPr>
          <a:xfrm>
            <a:off x="838080" y="2771640"/>
            <a:ext cx="48337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Utiliza modelos de linguagem inteligentes para validar regras subjetivas segundo linguagem natural: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Google Shape;319;p21"/>
          <p:cNvSpPr/>
          <p:nvPr/>
        </p:nvSpPr>
        <p:spPr>
          <a:xfrm>
            <a:off x="6849360" y="2419200"/>
            <a:ext cx="47289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Plus Jakarta Sans ExtraBold"/>
                <a:ea typeface="Plus Jakarta Sans ExtraBold"/>
              </a:rPr>
              <a:t>Code-Based Scorer (Lógico)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320;p21"/>
          <p:cNvSpPr/>
          <p:nvPr/>
        </p:nvSpPr>
        <p:spPr>
          <a:xfrm>
            <a:off x="6519960" y="2771640"/>
            <a:ext cx="48337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Validação determinística pura escrita diretamente em Python, rodando instantaneamente com custo zero: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9" name="Google Shape;321;p21" descr="image.png"/>
          <p:cNvPicPr/>
          <p:nvPr/>
        </p:nvPicPr>
        <p:blipFill>
          <a:blip r:embed="rId7"/>
          <a:stretch/>
        </p:blipFill>
        <p:spPr>
          <a:xfrm>
            <a:off x="838080" y="2443320"/>
            <a:ext cx="18648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Google Shape;322;p21"/>
          <p:cNvSpPr/>
          <p:nvPr/>
        </p:nvSpPr>
        <p:spPr>
          <a:xfrm>
            <a:off x="4808160" y="3320280"/>
            <a:ext cx="73008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4B5563"/>
                </a:solidFill>
                <a:effectLst/>
                <a:uFillTx/>
                <a:latin typeface="JetBrains Mono"/>
                <a:ea typeface="JetBrains Mono"/>
              </a:rPr>
              <a:t>PYTHON ENGINE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323;p21"/>
          <p:cNvSpPr/>
          <p:nvPr/>
        </p:nvSpPr>
        <p:spPr>
          <a:xfrm>
            <a:off x="1638360" y="3591720"/>
            <a:ext cx="13330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A5D6FF"/>
                </a:solidFill>
                <a:effectLst/>
                <a:uFillTx/>
                <a:latin typeface="JetBrains Mono"/>
                <a:ea typeface="JetBrains Mono"/>
              </a:rPr>
              <a:t>"technical_accuracy"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324;p21"/>
          <p:cNvSpPr/>
          <p:nvPr/>
        </p:nvSpPr>
        <p:spPr>
          <a:xfrm>
            <a:off x="1571760" y="3906000"/>
            <a:ext cx="24001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A5D6FF"/>
                </a:solidFill>
                <a:effectLst/>
                <a:uFillTx/>
                <a:latin typeface="JetBrains Mono"/>
                <a:ea typeface="JetBrains Mono"/>
              </a:rPr>
              <a:t>"A resposta deve ser precisa sobre "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325;p21"/>
          <p:cNvSpPr/>
          <p:nvPr/>
        </p:nvSpPr>
        <p:spPr>
          <a:xfrm>
            <a:off x="1571760" y="4063320"/>
            <a:ext cx="18666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A5D6FF"/>
                </a:solidFill>
                <a:effectLst/>
                <a:uFillTx/>
                <a:latin typeface="JetBrains Mono"/>
                <a:ea typeface="JetBrains Mono"/>
              </a:rPr>
              <a:t>"MLflow. Nao invente dados."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4" name="Google Shape;326;p21" descr="image.png"/>
          <p:cNvPicPr/>
          <p:nvPr/>
        </p:nvPicPr>
        <p:blipFill>
          <a:blip r:embed="rId8"/>
          <a:stretch/>
        </p:blipFill>
        <p:spPr>
          <a:xfrm>
            <a:off x="6519960" y="2443320"/>
            <a:ext cx="23400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Google Shape;327;p21"/>
          <p:cNvSpPr/>
          <p:nvPr/>
        </p:nvSpPr>
        <p:spPr>
          <a:xfrm>
            <a:off x="10489680" y="3320280"/>
            <a:ext cx="73008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4B5563"/>
                </a:solidFill>
                <a:effectLst/>
                <a:uFillTx/>
                <a:latin typeface="JetBrains Mono"/>
                <a:ea typeface="JetBrains Mono"/>
              </a:rPr>
              <a:t>PYTHON ENGINE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328;p21"/>
          <p:cNvSpPr/>
          <p:nvPr/>
        </p:nvSpPr>
        <p:spPr>
          <a:xfrm>
            <a:off x="6719760" y="3434760"/>
            <a:ext cx="46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D2A8FF"/>
                </a:solidFill>
                <a:effectLst/>
                <a:uFillTx/>
                <a:latin typeface="JetBrains Mono"/>
                <a:ea typeface="JetBrains Mono"/>
              </a:rPr>
              <a:t>@scorer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Google Shape;329;p21"/>
          <p:cNvSpPr/>
          <p:nvPr/>
        </p:nvSpPr>
        <p:spPr>
          <a:xfrm>
            <a:off x="6719760" y="3591720"/>
            <a:ext cx="1998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def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Google Shape;330;p21"/>
          <p:cNvSpPr/>
          <p:nvPr/>
        </p:nvSpPr>
        <p:spPr>
          <a:xfrm>
            <a:off x="6986520" y="3591720"/>
            <a:ext cx="16664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79C0FF"/>
                </a:solidFill>
                <a:effectLst/>
                <a:uFillTx/>
                <a:latin typeface="JetBrains Mono"/>
                <a:ea typeface="JetBrains Mono"/>
              </a:rPr>
              <a:t>no_hallucination_keywords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Google Shape;331;p21"/>
          <p:cNvSpPr/>
          <p:nvPr/>
        </p:nvSpPr>
        <p:spPr>
          <a:xfrm>
            <a:off x="7853400" y="3749040"/>
            <a:ext cx="18666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A5D6FF"/>
                </a:solidFill>
                <a:effectLst/>
                <a:uFillTx/>
                <a:latin typeface="JetBrains Mono"/>
                <a:ea typeface="JetBrains Mono"/>
              </a:rPr>
              <a:t>"comprovado cientificamente"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332;p21"/>
          <p:cNvSpPr/>
          <p:nvPr/>
        </p:nvSpPr>
        <p:spPr>
          <a:xfrm>
            <a:off x="7719840" y="3906000"/>
            <a:ext cx="1998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for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Google Shape;333;p21"/>
          <p:cNvSpPr/>
          <p:nvPr/>
        </p:nvSpPr>
        <p:spPr>
          <a:xfrm>
            <a:off x="8120160" y="3906000"/>
            <a:ext cx="1328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in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334;p21"/>
          <p:cNvSpPr/>
          <p:nvPr/>
        </p:nvSpPr>
        <p:spPr>
          <a:xfrm>
            <a:off x="8986680" y="3906000"/>
            <a:ext cx="1328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if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335;p21"/>
          <p:cNvSpPr/>
          <p:nvPr/>
        </p:nvSpPr>
        <p:spPr>
          <a:xfrm>
            <a:off x="9320040" y="3906000"/>
            <a:ext cx="1328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in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336;p21"/>
          <p:cNvSpPr/>
          <p:nvPr/>
        </p:nvSpPr>
        <p:spPr>
          <a:xfrm>
            <a:off x="6986520" y="4063320"/>
            <a:ext cx="1328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if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337;p21"/>
          <p:cNvSpPr/>
          <p:nvPr/>
        </p:nvSpPr>
        <p:spPr>
          <a:xfrm>
            <a:off x="7253280" y="4220640"/>
            <a:ext cx="3996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return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338;p21"/>
          <p:cNvSpPr/>
          <p:nvPr/>
        </p:nvSpPr>
        <p:spPr>
          <a:xfrm>
            <a:off x="8720280" y="4220640"/>
            <a:ext cx="3330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False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Google Shape;339;p21"/>
          <p:cNvSpPr/>
          <p:nvPr/>
        </p:nvSpPr>
        <p:spPr>
          <a:xfrm>
            <a:off x="6986520" y="4377600"/>
            <a:ext cx="3996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return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340;p21"/>
          <p:cNvSpPr/>
          <p:nvPr/>
        </p:nvSpPr>
        <p:spPr>
          <a:xfrm>
            <a:off x="8453520" y="4377600"/>
            <a:ext cx="2664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True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341;p21"/>
          <p:cNvSpPr/>
          <p:nvPr/>
        </p:nvSpPr>
        <p:spPr>
          <a:xfrm>
            <a:off x="752400" y="485640"/>
            <a:ext cx="11401200" cy="4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2850" b="0" u="none" strike="noStrike">
                <a:solidFill>
                  <a:srgbClr val="FFFFFF"/>
                </a:solidFill>
                <a:effectLst/>
                <a:uFillTx/>
                <a:latin typeface="Plus Jakarta Sans ExtraBold"/>
                <a:ea typeface="Plus Jakarta Sans ExtraBold"/>
              </a:rPr>
              <a:t>Demo 4: </a:t>
            </a:r>
            <a:r>
              <a:rPr lang="en-US" sz="2850" b="0" u="none" strike="noStrike">
                <a:solidFill>
                  <a:srgbClr val="00E5FF"/>
                </a:solidFill>
                <a:effectLst/>
                <a:uFillTx/>
                <a:latin typeface="Plus Jakarta Sans ExtraBold"/>
                <a:ea typeface="Plus Jakarta Sans ExtraBold"/>
              </a:rPr>
              <a:t>LLM Judges vs. Code Scorers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342;p21"/>
          <p:cNvSpPr/>
          <p:nvPr/>
        </p:nvSpPr>
        <p:spPr>
          <a:xfrm>
            <a:off x="581040" y="485640"/>
            <a:ext cx="47160" cy="433800"/>
          </a:xfrm>
          <a:prstGeom prst="rect">
            <a:avLst/>
          </a:prstGeom>
          <a:solidFill>
            <a:srgbClr val="00E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760" rIns="2376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347;p22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2" name="Google Shape;348;p22" descr="image.png"/>
          <p:cNvPicPr/>
          <p:nvPr/>
        </p:nvPicPr>
        <p:blipFill>
          <a:blip r:embed="rId2"/>
          <a:stretch/>
        </p:blipFill>
        <p:spPr>
          <a:xfrm>
            <a:off x="581040" y="6105600"/>
            <a:ext cx="1102968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Google Shape;349;p22"/>
          <p:cNvSpPr/>
          <p:nvPr/>
        </p:nvSpPr>
        <p:spPr>
          <a:xfrm>
            <a:off x="581040" y="6229440"/>
            <a:ext cx="1380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4748B"/>
                </a:solidFill>
                <a:effectLst/>
                <a:uFillTx/>
                <a:latin typeface="Plus Jakarta Sans"/>
                <a:ea typeface="Plus Jakarta Sans"/>
              </a:rPr>
              <a:t>IA </a:t>
            </a:r>
            <a:r>
              <a:rPr lang="en-US" sz="900" b="1" u="none" strike="noStrike">
                <a:solidFill>
                  <a:srgbClr val="00E5FF"/>
                </a:solidFill>
                <a:effectLst/>
                <a:uFillTx/>
                <a:latin typeface="Plus Jakarta Sans"/>
                <a:ea typeface="Plus Jakarta Sans"/>
              </a:rPr>
              <a:t>OBSERVABILIDADE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350;p22"/>
          <p:cNvSpPr/>
          <p:nvPr/>
        </p:nvSpPr>
        <p:spPr>
          <a:xfrm>
            <a:off x="11144160" y="6234120"/>
            <a:ext cx="46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475569"/>
                </a:solidFill>
                <a:effectLst/>
                <a:uFillTx/>
                <a:latin typeface="JetBrains Mono"/>
                <a:ea typeface="JetBrains Mono"/>
              </a:rPr>
              <a:t>10 / 12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5" name="Google Shape;351;p22"/>
          <p:cNvGraphicFramePr/>
          <p:nvPr/>
        </p:nvGraphicFramePr>
        <p:xfrm>
          <a:off x="581040" y="2393640"/>
          <a:ext cx="11029680" cy="2476080"/>
        </p:xfrm>
        <a:graphic>
          <a:graphicData uri="http://schemas.openxmlformats.org/drawingml/2006/table">
            <a:tbl>
              <a:tblPr/>
              <a:tblGrid>
                <a:gridCol w="2169000"/>
                <a:gridCol w="4197960"/>
                <a:gridCol w="4662360"/>
              </a:tblGrid>
              <a:tr h="41256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1" u="none" strike="noStrike">
                          <a:solidFill>
                            <a:srgbClr val="00E5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Aspecto Arquitetural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B1329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1" u="none" strike="noStrike">
                          <a:solidFill>
                            <a:srgbClr val="00E5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mlflow.langchain.autolog()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B1329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1" u="none" strike="noStrike">
                          <a:solidFill>
                            <a:srgbClr val="00E5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Manual Spans (Padrão Produção)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B1329"/>
                    </a:solidFill>
                  </a:tcPr>
                </a:tc>
              </a:tr>
              <a:tr h="41256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Suporte a Streaming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Incompatível (Força chamadas de invoke bloqueantes)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Totalmente compatível com geradores de token (.astream)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1256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Gestão de Sessão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Garantido implicitamente por checkpointing genérico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Construído manualmente via Cache / Dicionário de histórico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41256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Controle Fino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Spans criados de forma genérica e automatizada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Inputs e outputs mapeados explicitamente por escopo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1256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Mensagens de Progresso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Retorna logs e metadados apenas no resultado final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Envia logs em tempo real por meio de get_stream_writer()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41256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Associação de trace_id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Requer busca assíncrona pós-chamada no MLflow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Capturado instantaneamente na inicialização do ciclo de span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sp>
        <p:nvSpPr>
          <p:cNvPr id="266" name="Google Shape;352;p22"/>
          <p:cNvSpPr/>
          <p:nvPr/>
        </p:nvSpPr>
        <p:spPr>
          <a:xfrm>
            <a:off x="581040" y="2808000"/>
            <a:ext cx="216864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353;p22"/>
          <p:cNvSpPr/>
          <p:nvPr/>
        </p:nvSpPr>
        <p:spPr>
          <a:xfrm>
            <a:off x="581040" y="2398320"/>
            <a:ext cx="2168640" cy="900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354;p22"/>
          <p:cNvSpPr/>
          <p:nvPr/>
        </p:nvSpPr>
        <p:spPr>
          <a:xfrm>
            <a:off x="2750040" y="2808000"/>
            <a:ext cx="419796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Google Shape;355;p22"/>
          <p:cNvSpPr/>
          <p:nvPr/>
        </p:nvSpPr>
        <p:spPr>
          <a:xfrm>
            <a:off x="2750040" y="2398320"/>
            <a:ext cx="4197960" cy="900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Google Shape;356;p22"/>
          <p:cNvSpPr/>
          <p:nvPr/>
        </p:nvSpPr>
        <p:spPr>
          <a:xfrm>
            <a:off x="6948360" y="2808000"/>
            <a:ext cx="466236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357;p22"/>
          <p:cNvSpPr/>
          <p:nvPr/>
        </p:nvSpPr>
        <p:spPr>
          <a:xfrm>
            <a:off x="6948360" y="2398320"/>
            <a:ext cx="4662360" cy="900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Google Shape;358;p22"/>
          <p:cNvSpPr/>
          <p:nvPr/>
        </p:nvSpPr>
        <p:spPr>
          <a:xfrm>
            <a:off x="581040" y="3217680"/>
            <a:ext cx="216864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Google Shape;359;p22"/>
          <p:cNvSpPr/>
          <p:nvPr/>
        </p:nvSpPr>
        <p:spPr>
          <a:xfrm>
            <a:off x="2750040" y="3217680"/>
            <a:ext cx="419796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Google Shape;360;p22"/>
          <p:cNvSpPr/>
          <p:nvPr/>
        </p:nvSpPr>
        <p:spPr>
          <a:xfrm>
            <a:off x="6948360" y="3217680"/>
            <a:ext cx="466236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Google Shape;361;p22"/>
          <p:cNvSpPr/>
          <p:nvPr/>
        </p:nvSpPr>
        <p:spPr>
          <a:xfrm>
            <a:off x="581040" y="3627000"/>
            <a:ext cx="216864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Google Shape;362;p22"/>
          <p:cNvSpPr/>
          <p:nvPr/>
        </p:nvSpPr>
        <p:spPr>
          <a:xfrm>
            <a:off x="2750040" y="3627000"/>
            <a:ext cx="419796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Google Shape;363;p22"/>
          <p:cNvSpPr/>
          <p:nvPr/>
        </p:nvSpPr>
        <p:spPr>
          <a:xfrm>
            <a:off x="6948360" y="3627000"/>
            <a:ext cx="466236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Google Shape;364;p22"/>
          <p:cNvSpPr/>
          <p:nvPr/>
        </p:nvSpPr>
        <p:spPr>
          <a:xfrm>
            <a:off x="581040" y="4036680"/>
            <a:ext cx="216864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Google Shape;365;p22"/>
          <p:cNvSpPr/>
          <p:nvPr/>
        </p:nvSpPr>
        <p:spPr>
          <a:xfrm>
            <a:off x="2750040" y="4036680"/>
            <a:ext cx="419796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Google Shape;366;p22"/>
          <p:cNvSpPr/>
          <p:nvPr/>
        </p:nvSpPr>
        <p:spPr>
          <a:xfrm>
            <a:off x="6948360" y="4036680"/>
            <a:ext cx="466236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Google Shape;367;p22"/>
          <p:cNvSpPr/>
          <p:nvPr/>
        </p:nvSpPr>
        <p:spPr>
          <a:xfrm>
            <a:off x="581040" y="4446360"/>
            <a:ext cx="216864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Google Shape;368;p22"/>
          <p:cNvSpPr/>
          <p:nvPr/>
        </p:nvSpPr>
        <p:spPr>
          <a:xfrm>
            <a:off x="2750040" y="4446360"/>
            <a:ext cx="419796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Google Shape;369;p22"/>
          <p:cNvSpPr/>
          <p:nvPr/>
        </p:nvSpPr>
        <p:spPr>
          <a:xfrm>
            <a:off x="6948360" y="4446360"/>
            <a:ext cx="466236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Google Shape;370;p22"/>
          <p:cNvSpPr/>
          <p:nvPr/>
        </p:nvSpPr>
        <p:spPr>
          <a:xfrm>
            <a:off x="581040" y="4855680"/>
            <a:ext cx="216864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Google Shape;371;p22"/>
          <p:cNvSpPr/>
          <p:nvPr/>
        </p:nvSpPr>
        <p:spPr>
          <a:xfrm>
            <a:off x="2750040" y="4855680"/>
            <a:ext cx="419796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Google Shape;372;p22"/>
          <p:cNvSpPr/>
          <p:nvPr/>
        </p:nvSpPr>
        <p:spPr>
          <a:xfrm>
            <a:off x="6948360" y="4855680"/>
            <a:ext cx="4662360" cy="9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Google Shape;373;p22"/>
          <p:cNvSpPr/>
          <p:nvPr/>
        </p:nvSpPr>
        <p:spPr>
          <a:xfrm>
            <a:off x="752400" y="485640"/>
            <a:ext cx="11401200" cy="4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2850" b="0" u="none" strike="noStrike">
                <a:solidFill>
                  <a:srgbClr val="FFFFFF"/>
                </a:solidFill>
                <a:effectLst/>
                <a:uFillTx/>
                <a:latin typeface="Plus Jakarta Sans ExtraBold"/>
                <a:ea typeface="Plus Jakarta Sans ExtraBold"/>
              </a:rPr>
              <a:t>Demo 5: </a:t>
            </a:r>
            <a:r>
              <a:rPr lang="en-US" sz="2850" b="0" u="none" strike="noStrike">
                <a:solidFill>
                  <a:srgbClr val="00E5FF"/>
                </a:solidFill>
                <a:effectLst/>
                <a:uFillTx/>
                <a:latin typeface="Plus Jakarta Sans ExtraBold"/>
                <a:ea typeface="Plus Jakarta Sans ExtraBold"/>
              </a:rPr>
              <a:t>autolog() vs. Spans Manuais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Google Shape;374;p22"/>
          <p:cNvSpPr/>
          <p:nvPr/>
        </p:nvSpPr>
        <p:spPr>
          <a:xfrm>
            <a:off x="581040" y="485640"/>
            <a:ext cx="47160" cy="433800"/>
          </a:xfrm>
          <a:prstGeom prst="rect">
            <a:avLst/>
          </a:prstGeom>
          <a:solidFill>
            <a:srgbClr val="00E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760" rIns="2376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379;p2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0" name="Google Shape;380;p23" descr="image.png"/>
          <p:cNvPicPr/>
          <p:nvPr/>
        </p:nvPicPr>
        <p:blipFill>
          <a:blip r:embed="rId2"/>
          <a:stretch/>
        </p:blipFill>
        <p:spPr>
          <a:xfrm>
            <a:off x="581040" y="2741760"/>
            <a:ext cx="5347800" cy="199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1" name="Google Shape;381;p23" descr="image.png"/>
          <p:cNvPicPr/>
          <p:nvPr/>
        </p:nvPicPr>
        <p:blipFill>
          <a:blip r:embed="rId3"/>
          <a:stretch/>
        </p:blipFill>
        <p:spPr>
          <a:xfrm>
            <a:off x="6262560" y="2813040"/>
            <a:ext cx="5347800" cy="199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2" name="Google Shape;382;p23" descr="image.png"/>
          <p:cNvPicPr/>
          <p:nvPr/>
        </p:nvPicPr>
        <p:blipFill>
          <a:blip r:embed="rId4"/>
          <a:stretch/>
        </p:blipFill>
        <p:spPr>
          <a:xfrm>
            <a:off x="581040" y="6105600"/>
            <a:ext cx="1102968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Google Shape;383;p23"/>
          <p:cNvSpPr/>
          <p:nvPr/>
        </p:nvSpPr>
        <p:spPr>
          <a:xfrm>
            <a:off x="581040" y="6229440"/>
            <a:ext cx="1380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4748B"/>
                </a:solidFill>
                <a:effectLst/>
                <a:uFillTx/>
                <a:latin typeface="Plus Jakarta Sans"/>
                <a:ea typeface="Plus Jakarta Sans"/>
              </a:rPr>
              <a:t>IA </a:t>
            </a:r>
            <a:r>
              <a:rPr lang="en-US" sz="900" b="1" u="none" strike="noStrike">
                <a:solidFill>
                  <a:srgbClr val="00E5FF"/>
                </a:solidFill>
                <a:effectLst/>
                <a:uFillTx/>
                <a:latin typeface="Plus Jakarta Sans"/>
                <a:ea typeface="Plus Jakarta Sans"/>
              </a:rPr>
              <a:t>OBSERVABILIDADE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Google Shape;384;p23"/>
          <p:cNvSpPr/>
          <p:nvPr/>
        </p:nvSpPr>
        <p:spPr>
          <a:xfrm>
            <a:off x="11144160" y="6234120"/>
            <a:ext cx="46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475569"/>
                </a:solidFill>
                <a:effectLst/>
                <a:uFillTx/>
                <a:latin typeface="JetBrains Mono"/>
                <a:ea typeface="JetBrains Mono"/>
              </a:rPr>
              <a:t>11 / 12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Google Shape;385;p23"/>
          <p:cNvSpPr/>
          <p:nvPr/>
        </p:nvSpPr>
        <p:spPr>
          <a:xfrm>
            <a:off x="581040" y="2383560"/>
            <a:ext cx="53478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1. Amostragem Seletiva (Sampling Ratio):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Google Shape;386;p23"/>
          <p:cNvSpPr/>
          <p:nvPr/>
        </p:nvSpPr>
        <p:spPr>
          <a:xfrm>
            <a:off x="6262560" y="2455200"/>
            <a:ext cx="53478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Plus Jakarta Sans"/>
                <a:ea typeface="Plus Jakarta Sans"/>
              </a:rPr>
              <a:t>2. Registro de Feedback Humano nos Traces: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Google Shape;387;p23"/>
          <p:cNvSpPr/>
          <p:nvPr/>
        </p:nvSpPr>
        <p:spPr>
          <a:xfrm>
            <a:off x="5065200" y="2799000"/>
            <a:ext cx="73008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4B5563"/>
                </a:solidFill>
                <a:effectLst/>
                <a:uFillTx/>
                <a:latin typeface="JetBrains Mono"/>
                <a:ea typeface="JetBrains Mono"/>
              </a:rPr>
              <a:t>PYTHON ENGINE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Google Shape;388;p23"/>
          <p:cNvSpPr/>
          <p:nvPr/>
        </p:nvSpPr>
        <p:spPr>
          <a:xfrm>
            <a:off x="781200" y="2913120"/>
            <a:ext cx="32000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D2A8FF"/>
                </a:solidFill>
                <a:effectLst/>
                <a:uFillTx/>
                <a:latin typeface="JetBrains Mono"/>
                <a:ea typeface="JetBrains Mono"/>
              </a:rPr>
              <a:t>@mlflow.trace(sampling_ratio_override=1.0)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Google Shape;389;p23"/>
          <p:cNvSpPr/>
          <p:nvPr/>
        </p:nvSpPr>
        <p:spPr>
          <a:xfrm>
            <a:off x="781200" y="3098880"/>
            <a:ext cx="2282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def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Google Shape;390;p23"/>
          <p:cNvSpPr/>
          <p:nvPr/>
        </p:nvSpPr>
        <p:spPr>
          <a:xfrm>
            <a:off x="1085760" y="3098880"/>
            <a:ext cx="12189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79C0FF"/>
                </a:solidFill>
                <a:effectLst/>
                <a:uFillTx/>
                <a:latin typeface="JetBrains Mono"/>
                <a:ea typeface="JetBrains Mono"/>
              </a:rPr>
              <a:t>critical_payment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Google Shape;391;p23"/>
          <p:cNvSpPr/>
          <p:nvPr/>
        </p:nvSpPr>
        <p:spPr>
          <a:xfrm>
            <a:off x="1085760" y="3284640"/>
            <a:ext cx="32000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i="1" u="none" strike="noStrike">
                <a:solidFill>
                  <a:srgbClr val="8B949E"/>
                </a:solidFill>
                <a:effectLst/>
                <a:uFillTx/>
                <a:latin typeface="JetBrains Mono"/>
                <a:ea typeface="JetBrains Mono"/>
              </a:rPr>
              <a:t># Processamento crítico de checkout (100%)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Google Shape;392;p23"/>
          <p:cNvSpPr/>
          <p:nvPr/>
        </p:nvSpPr>
        <p:spPr>
          <a:xfrm>
            <a:off x="1085760" y="34704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return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Google Shape;393;p23"/>
          <p:cNvSpPr/>
          <p:nvPr/>
        </p:nvSpPr>
        <p:spPr>
          <a:xfrm>
            <a:off x="781200" y="3841920"/>
            <a:ext cx="32000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D2A8FF"/>
                </a:solidFill>
                <a:effectLst/>
                <a:uFillTx/>
                <a:latin typeface="JetBrains Mono"/>
                <a:ea typeface="JetBrains Mono"/>
              </a:rPr>
              <a:t>@mlflow.trace(sampling_ratio_override=0.1)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Google Shape;394;p23"/>
          <p:cNvSpPr/>
          <p:nvPr/>
        </p:nvSpPr>
        <p:spPr>
          <a:xfrm>
            <a:off x="781200" y="4027680"/>
            <a:ext cx="2282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def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Google Shape;395;p23"/>
          <p:cNvSpPr/>
          <p:nvPr/>
        </p:nvSpPr>
        <p:spPr>
          <a:xfrm>
            <a:off x="1085760" y="4027680"/>
            <a:ext cx="9140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79C0FF"/>
                </a:solidFill>
                <a:effectLst/>
                <a:uFillTx/>
                <a:latin typeface="JetBrains Mono"/>
                <a:ea typeface="JetBrains Mono"/>
              </a:rPr>
              <a:t>general_chat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Google Shape;396;p23"/>
          <p:cNvSpPr/>
          <p:nvPr/>
        </p:nvSpPr>
        <p:spPr>
          <a:xfrm>
            <a:off x="1085760" y="4213440"/>
            <a:ext cx="33523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i="1" u="none" strike="noStrike">
                <a:solidFill>
                  <a:srgbClr val="8B949E"/>
                </a:solidFill>
                <a:effectLst/>
                <a:uFillTx/>
                <a:latin typeface="JetBrains Mono"/>
                <a:ea typeface="JetBrains Mono"/>
              </a:rPr>
              <a:t># Amostragem padrão de logs rotineiros (10%)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Google Shape;397;p23"/>
          <p:cNvSpPr/>
          <p:nvPr/>
        </p:nvSpPr>
        <p:spPr>
          <a:xfrm>
            <a:off x="1085760" y="4399200"/>
            <a:ext cx="456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return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Google Shape;398;p23"/>
          <p:cNvSpPr/>
          <p:nvPr/>
        </p:nvSpPr>
        <p:spPr>
          <a:xfrm>
            <a:off x="10747080" y="2870280"/>
            <a:ext cx="730080" cy="1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670" b="1" u="none" strike="noStrike">
                <a:solidFill>
                  <a:srgbClr val="4B5563"/>
                </a:solidFill>
                <a:effectLst/>
                <a:uFillTx/>
                <a:latin typeface="JetBrains Mono"/>
                <a:ea typeface="JetBrains Mono"/>
              </a:rPr>
              <a:t>PYTHON ENGINE</a:t>
            </a:r>
            <a:endParaRPr lang="en-US" sz="6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Google Shape;399;p23"/>
          <p:cNvSpPr/>
          <p:nvPr/>
        </p:nvSpPr>
        <p:spPr>
          <a:xfrm>
            <a:off x="7834320" y="2984760"/>
            <a:ext cx="18284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79C0FF"/>
                </a:solidFill>
                <a:effectLst/>
                <a:uFillTx/>
                <a:latin typeface="JetBrains Mono"/>
                <a:ea typeface="JetBrains Mono"/>
              </a:rPr>
              <a:t>get_last_active_trace_id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Google Shape;400;p23"/>
          <p:cNvSpPr/>
          <p:nvPr/>
        </p:nvSpPr>
        <p:spPr>
          <a:xfrm>
            <a:off x="6996240" y="3170160"/>
            <a:ext cx="9140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79C0FF"/>
                </a:solidFill>
                <a:effectLst/>
                <a:uFillTx/>
                <a:latin typeface="JetBrains Mono"/>
                <a:ea typeface="JetBrains Mono"/>
              </a:rPr>
              <a:t>log_feedback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401;p23"/>
          <p:cNvSpPr/>
          <p:nvPr/>
        </p:nvSpPr>
        <p:spPr>
          <a:xfrm>
            <a:off x="7148520" y="3541680"/>
            <a:ext cx="9903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A5D6FF"/>
                </a:solidFill>
                <a:effectLst/>
                <a:uFillTx/>
                <a:latin typeface="JetBrains Mono"/>
                <a:ea typeface="JetBrains Mono"/>
              </a:rPr>
              <a:t>"user_rating"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402;p23"/>
          <p:cNvSpPr/>
          <p:nvPr/>
        </p:nvSpPr>
        <p:spPr>
          <a:xfrm>
            <a:off x="7224840" y="3727440"/>
            <a:ext cx="3805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F7B72"/>
                </a:solidFill>
                <a:effectLst/>
                <a:uFillTx/>
                <a:latin typeface="JetBrains Mono"/>
                <a:ea typeface="JetBrains Mono"/>
              </a:rPr>
              <a:t>False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Google Shape;403;p23"/>
          <p:cNvSpPr/>
          <p:nvPr/>
        </p:nvSpPr>
        <p:spPr>
          <a:xfrm>
            <a:off x="7758000" y="3727440"/>
            <a:ext cx="7617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i="1" u="none" strike="noStrike">
                <a:solidFill>
                  <a:srgbClr val="8B949E"/>
                </a:solidFill>
                <a:effectLst/>
                <a:uFillTx/>
                <a:latin typeface="JetBrains Mono"/>
                <a:ea typeface="JetBrains Mono"/>
              </a:rPr>
              <a:t># 👍 ou 👎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Google Shape;404;p23"/>
          <p:cNvSpPr/>
          <p:nvPr/>
        </p:nvSpPr>
        <p:spPr>
          <a:xfrm>
            <a:off x="7529400" y="3913200"/>
            <a:ext cx="27428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A5D6FF"/>
                </a:solidFill>
                <a:effectLst/>
                <a:uFillTx/>
                <a:latin typeface="JetBrains Mono"/>
                <a:ea typeface="JetBrains Mono"/>
              </a:rPr>
              <a:t>"Ignorou minha pergunta sobre preço"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Google Shape;405;p23"/>
          <p:cNvSpPr/>
          <p:nvPr/>
        </p:nvSpPr>
        <p:spPr>
          <a:xfrm>
            <a:off x="7300800" y="4098960"/>
            <a:ext cx="12189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79C0FF"/>
                </a:solidFill>
                <a:effectLst/>
                <a:uFillTx/>
                <a:latin typeface="JetBrains Mono"/>
                <a:ea typeface="JetBrains Mono"/>
              </a:rPr>
              <a:t>AssessmentSource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Google Shape;406;p23"/>
          <p:cNvSpPr/>
          <p:nvPr/>
        </p:nvSpPr>
        <p:spPr>
          <a:xfrm>
            <a:off x="9510840" y="4098960"/>
            <a:ext cx="5331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A5D6FF"/>
                </a:solidFill>
                <a:effectLst/>
                <a:uFillTx/>
                <a:latin typeface="JetBrains Mono"/>
                <a:ea typeface="JetBrains Mono"/>
              </a:rPr>
              <a:t>"HUMAN"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Google Shape;407;p23"/>
          <p:cNvSpPr/>
          <p:nvPr/>
        </p:nvSpPr>
        <p:spPr>
          <a:xfrm>
            <a:off x="6996240" y="4470480"/>
            <a:ext cx="19047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79C0FF"/>
                </a:solidFill>
                <a:effectLst/>
                <a:uFillTx/>
                <a:latin typeface="JetBrains Mono"/>
                <a:ea typeface="JetBrains Mono"/>
              </a:rPr>
              <a:t>flush_trace_async_logging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Google Shape;408;p23"/>
          <p:cNvSpPr/>
          <p:nvPr/>
        </p:nvSpPr>
        <p:spPr>
          <a:xfrm>
            <a:off x="9129600" y="4470480"/>
            <a:ext cx="1294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i="1" u="none" strike="noStrike">
                <a:solidFill>
                  <a:srgbClr val="8B949E"/>
                </a:solidFill>
                <a:effectLst/>
                <a:uFillTx/>
                <a:latin typeface="JetBrains Mono"/>
                <a:ea typeface="JetBrains Mono"/>
              </a:rPr>
              <a:t># Garante escrita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Google Shape;409;p23"/>
          <p:cNvSpPr/>
          <p:nvPr/>
        </p:nvSpPr>
        <p:spPr>
          <a:xfrm>
            <a:off x="752400" y="485640"/>
            <a:ext cx="11401200" cy="4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2850" b="0" u="none" strike="noStrike">
                <a:solidFill>
                  <a:srgbClr val="FFFFFF"/>
                </a:solidFill>
                <a:effectLst/>
                <a:uFillTx/>
                <a:latin typeface="Plus Jakarta Sans ExtraBold"/>
                <a:ea typeface="Plus Jakarta Sans ExtraBold"/>
              </a:rPr>
              <a:t>Demo 6: </a:t>
            </a:r>
            <a:r>
              <a:rPr lang="en-US" sz="2850" b="0" u="none" strike="noStrike">
                <a:solidFill>
                  <a:srgbClr val="00E5FF"/>
                </a:solidFill>
                <a:effectLst/>
                <a:uFillTx/>
                <a:latin typeface="Plus Jakarta Sans ExtraBold"/>
                <a:ea typeface="Plus Jakarta Sans ExtraBold"/>
              </a:rPr>
              <a:t>Amostragem e Feedback Ativo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Google Shape;410;p23"/>
          <p:cNvSpPr/>
          <p:nvPr/>
        </p:nvSpPr>
        <p:spPr>
          <a:xfrm>
            <a:off x="581040" y="485640"/>
            <a:ext cx="47160" cy="433800"/>
          </a:xfrm>
          <a:prstGeom prst="rect">
            <a:avLst/>
          </a:prstGeom>
          <a:solidFill>
            <a:srgbClr val="00E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760" rIns="2376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415;p2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2" name="Google Shape;416;p24" descr="image.png"/>
          <p:cNvPicPr/>
          <p:nvPr/>
        </p:nvPicPr>
        <p:blipFill>
          <a:blip r:embed="rId2"/>
          <a:stretch/>
        </p:blipFill>
        <p:spPr>
          <a:xfrm>
            <a:off x="581040" y="6105600"/>
            <a:ext cx="11029680" cy="26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3" name="Google Shape;417;p24"/>
          <p:cNvSpPr/>
          <p:nvPr/>
        </p:nvSpPr>
        <p:spPr>
          <a:xfrm>
            <a:off x="581040" y="6229440"/>
            <a:ext cx="13806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4748B"/>
                </a:solidFill>
                <a:effectLst/>
                <a:uFillTx/>
                <a:latin typeface="Plus Jakarta Sans"/>
                <a:ea typeface="Plus Jakarta Sans"/>
              </a:rPr>
              <a:t>IA </a:t>
            </a:r>
            <a:r>
              <a:rPr lang="en-US" sz="900" b="1" u="none" strike="noStrike">
                <a:solidFill>
                  <a:srgbClr val="00E5FF"/>
                </a:solidFill>
                <a:effectLst/>
                <a:uFillTx/>
                <a:latin typeface="Plus Jakarta Sans"/>
                <a:ea typeface="Plus Jakarta Sans"/>
              </a:rPr>
              <a:t>OBSERVABILIDADE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Google Shape;418;p24"/>
          <p:cNvSpPr/>
          <p:nvPr/>
        </p:nvSpPr>
        <p:spPr>
          <a:xfrm>
            <a:off x="11144160" y="6234120"/>
            <a:ext cx="466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475569"/>
                </a:solidFill>
                <a:effectLst/>
                <a:uFillTx/>
                <a:latin typeface="JetBrains Mono"/>
                <a:ea typeface="JetBrains Mono"/>
              </a:rPr>
              <a:t>12 / 12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Google Shape;419;p24"/>
          <p:cNvSpPr/>
          <p:nvPr/>
        </p:nvSpPr>
        <p:spPr>
          <a:xfrm>
            <a:off x="885960" y="2484000"/>
            <a:ext cx="1072476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FFFFFF"/>
                </a:solidFill>
                <a:effectLst/>
                <a:uFillTx/>
                <a:latin typeface="Plus Jakarta Sans SemiBold"/>
                <a:ea typeface="Plus Jakarta Sans SemiBold"/>
              </a:rPr>
              <a:t>Habilite o auto-tracing básico como fundação:</a:t>
            </a: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  <a:ea typeface="Plus Jakarta Sans"/>
              </a:rPr>
              <a:t> Ative mlflow.openai.autolog() ou o equivalente para LangChain/LlamaIndex durante as etapas de prototipagem rápida de prompts.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Google Shape;420;p24"/>
          <p:cNvSpPr/>
          <p:nvPr/>
        </p:nvSpPr>
        <p:spPr>
          <a:xfrm>
            <a:off x="885960" y="3065040"/>
            <a:ext cx="10724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FFFFFF"/>
                </a:solidFill>
                <a:effectLst/>
                <a:uFillTx/>
                <a:latin typeface="Plus Jakarta Sans SemiBold"/>
                <a:ea typeface="Plus Jakarta Sans SemiBold"/>
              </a:rPr>
              <a:t>Isole fluxos complexos com spans aninhados:</a:t>
            </a: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  <a:ea typeface="Plus Jakarta Sans"/>
              </a:rPr>
              <a:t> Decore funções de banco vetorial e APIs externas de forma a identificar exatamente se a lentidão decorre do modelo de linguagem ou do banco.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Google Shape;421;p24"/>
          <p:cNvSpPr/>
          <p:nvPr/>
        </p:nvSpPr>
        <p:spPr>
          <a:xfrm>
            <a:off x="885960" y="3636720"/>
            <a:ext cx="10724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FFFFFF"/>
                </a:solidFill>
                <a:effectLst/>
                <a:uFillTx/>
                <a:latin typeface="Plus Jakarta Sans SemiBold"/>
                <a:ea typeface="Plus Jakarta Sans SemiBold"/>
              </a:rPr>
              <a:t>Una estratégias de avaliação:</a:t>
            </a: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  <a:ea typeface="Plus Jakarta Sans"/>
              </a:rPr>
              <a:t> Escreva scorers deterministicos em código nativo para regras absolutas e utilize LLM Judges seletivamente para mapear a qualidade subjetiva das conversas.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Google Shape;422;p24"/>
          <p:cNvSpPr/>
          <p:nvPr/>
        </p:nvSpPr>
        <p:spPr>
          <a:xfrm>
            <a:off x="885960" y="4208040"/>
            <a:ext cx="10724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FFFFFF"/>
                </a:solidFill>
                <a:effectLst/>
                <a:uFillTx/>
                <a:latin typeface="Plus Jakarta Sans SemiBold"/>
                <a:ea typeface="Plus Jakarta Sans SemiBold"/>
              </a:rPr>
              <a:t>Configure amostragem e feedback ativo em produção:</a:t>
            </a: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  <a:ea typeface="Plus Jakarta Sans"/>
              </a:rPr>
              <a:t> Colete avaliações (👍/👎) diretamente do front-end vinculadas ao `trace_id` correspondente, diminuindo os dados armazenados em rotas frias.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9" name="Google Shape;423;p24" descr="image.png"/>
          <p:cNvPicPr/>
          <p:nvPr/>
        </p:nvPicPr>
        <p:blipFill>
          <a:blip r:embed="rId3"/>
          <a:stretch/>
        </p:blipFill>
        <p:spPr>
          <a:xfrm>
            <a:off x="628560" y="2522160"/>
            <a:ext cx="15192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0" name="Google Shape;424;p24" descr="image.png"/>
          <p:cNvPicPr/>
          <p:nvPr/>
        </p:nvPicPr>
        <p:blipFill>
          <a:blip r:embed="rId4"/>
          <a:stretch/>
        </p:blipFill>
        <p:spPr>
          <a:xfrm>
            <a:off x="628560" y="3103200"/>
            <a:ext cx="17100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1" name="Google Shape;425;p24" descr="image.png"/>
          <p:cNvPicPr/>
          <p:nvPr/>
        </p:nvPicPr>
        <p:blipFill>
          <a:blip r:embed="rId5"/>
          <a:stretch/>
        </p:blipFill>
        <p:spPr>
          <a:xfrm>
            <a:off x="628560" y="3674880"/>
            <a:ext cx="19008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2" name="Google Shape;426;p24" descr="image.png"/>
          <p:cNvPicPr/>
          <p:nvPr/>
        </p:nvPicPr>
        <p:blipFill>
          <a:blip r:embed="rId6"/>
          <a:stretch/>
        </p:blipFill>
        <p:spPr>
          <a:xfrm>
            <a:off x="628560" y="4246200"/>
            <a:ext cx="190080" cy="15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" name="Google Shape;427;p24"/>
          <p:cNvSpPr/>
          <p:nvPr/>
        </p:nvSpPr>
        <p:spPr>
          <a:xfrm>
            <a:off x="752400" y="485640"/>
            <a:ext cx="11401200" cy="4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2850" b="0" u="none" strike="noStrike">
                <a:solidFill>
                  <a:srgbClr val="FFFFFF"/>
                </a:solidFill>
                <a:effectLst/>
                <a:uFillTx/>
                <a:latin typeface="Plus Jakarta Sans ExtraBold"/>
                <a:ea typeface="Plus Jakarta Sans ExtraBold"/>
              </a:rPr>
              <a:t>Checklist de </a:t>
            </a:r>
            <a:r>
              <a:rPr lang="en-US" sz="2850" b="0" u="none" strike="noStrike">
                <a:solidFill>
                  <a:srgbClr val="00E5FF"/>
                </a:solidFill>
                <a:effectLst/>
                <a:uFillTx/>
                <a:latin typeface="Plus Jakarta Sans ExtraBold"/>
                <a:ea typeface="Plus Jakarta Sans ExtraBold"/>
              </a:rPr>
              <a:t>Implantação em Produção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Google Shape;428;p24"/>
          <p:cNvSpPr/>
          <p:nvPr/>
        </p:nvSpPr>
        <p:spPr>
          <a:xfrm>
            <a:off x="581040" y="485640"/>
            <a:ext cx="47160" cy="433800"/>
          </a:xfrm>
          <a:prstGeom prst="rect">
            <a:avLst/>
          </a:prstGeom>
          <a:solidFill>
            <a:srgbClr val="00E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760" rIns="2376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433;p2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Google Shape;434;p25"/>
          <p:cNvSpPr/>
          <p:nvPr/>
        </p:nvSpPr>
        <p:spPr>
          <a:xfrm>
            <a:off x="581040" y="2886120"/>
            <a:ext cx="11029680" cy="98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Google Shape;435;p25"/>
          <p:cNvSpPr/>
          <p:nvPr/>
        </p:nvSpPr>
        <p:spPr>
          <a:xfrm>
            <a:off x="581040" y="385956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Google Shape;436;p25"/>
          <p:cNvSpPr/>
          <p:nvPr/>
        </p:nvSpPr>
        <p:spPr>
          <a:xfrm>
            <a:off x="581040" y="3859560"/>
            <a:ext cx="1102968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9" name="Google Shape;437;p25" descr="image.png"/>
          <p:cNvPicPr/>
          <p:nvPr/>
        </p:nvPicPr>
        <p:blipFill>
          <a:blip r:embed="rId2"/>
          <a:stretch/>
        </p:blipFill>
        <p:spPr>
          <a:xfrm>
            <a:off x="581040" y="3134520"/>
            <a:ext cx="856800" cy="47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0" name="Google Shape;438;p25"/>
          <p:cNvSpPr/>
          <p:nvPr/>
        </p:nvSpPr>
        <p:spPr>
          <a:xfrm>
            <a:off x="1676520" y="3029040"/>
            <a:ext cx="993420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https://static.vecteezy.com/system/resources/previews/068/364/830/non_2x/circuit-board-background-abstract-neural-grid-with-glowing-lines-and-data-paths-ideal-for-future-technology-ai-interfaces-and-cyber-projects-illustration-vector.jpg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Google Shape;439;p25"/>
          <p:cNvSpPr/>
          <p:nvPr/>
        </p:nvSpPr>
        <p:spPr>
          <a:xfrm>
            <a:off x="1676520" y="3472920"/>
            <a:ext cx="99342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Source: </a:t>
            </a:r>
            <a:r>
              <a:rPr lang="en-US" sz="1200" b="0" u="none" strike="noStrike">
                <a:solidFill>
                  <a:srgbClr val="4F46E5"/>
                </a:solidFill>
                <a:effectLst/>
                <a:uFillTx/>
                <a:latin typeface="Plus Jakarta Sans"/>
                <a:ea typeface="Plus Jakarta Sans"/>
              </a:rPr>
              <a:t>www.vecteezy.com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2" name="Google Shape;440;p25" descr="image.png"/>
          <p:cNvPicPr/>
          <p:nvPr/>
        </p:nvPicPr>
        <p:blipFill>
          <a:blip r:embed="rId3"/>
          <a:stretch/>
        </p:blipFill>
        <p:spPr>
          <a:xfrm>
            <a:off x="581040" y="4018320"/>
            <a:ext cx="856800" cy="47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Google Shape;441;p25"/>
          <p:cNvSpPr/>
          <p:nvPr/>
        </p:nvSpPr>
        <p:spPr>
          <a:xfrm>
            <a:off x="1676520" y="4011840"/>
            <a:ext cx="99342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https://mlflow.org/docs/latest/assets/images/tracking-metrics-ui-temp-ffc0da57b388076730e20207dbd7f9c4.png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Google Shape;442;p25"/>
          <p:cNvSpPr/>
          <p:nvPr/>
        </p:nvSpPr>
        <p:spPr>
          <a:xfrm>
            <a:off x="1676520" y="4257360"/>
            <a:ext cx="99342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Source: </a:t>
            </a:r>
            <a:r>
              <a:rPr lang="en-US" sz="1200" b="0" u="none" strike="noStrike">
                <a:solidFill>
                  <a:srgbClr val="4F46E5"/>
                </a:solidFill>
                <a:effectLst/>
                <a:uFillTx/>
                <a:latin typeface="Plus Jakarta Sans"/>
                <a:ea typeface="Plus Jakarta Sans"/>
              </a:rPr>
              <a:t>mlflow.org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Google Shape;443;p25"/>
          <p:cNvSpPr/>
          <p:nvPr/>
        </p:nvSpPr>
        <p:spPr>
          <a:xfrm>
            <a:off x="752400" y="485640"/>
            <a:ext cx="11401200" cy="4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2850" b="0" u="none" strike="noStrike">
                <a:solidFill>
                  <a:srgbClr val="FFFFFF"/>
                </a:solidFill>
                <a:effectLst/>
                <a:uFillTx/>
                <a:latin typeface="Plus Jakarta Sans ExtraBold"/>
                <a:ea typeface="Plus Jakarta Sans ExtraBold"/>
              </a:rPr>
              <a:t>Image Sources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Google Shape;444;p25"/>
          <p:cNvSpPr/>
          <p:nvPr/>
        </p:nvSpPr>
        <p:spPr>
          <a:xfrm>
            <a:off x="581040" y="485640"/>
            <a:ext cx="47160" cy="433800"/>
          </a:xfrm>
          <a:prstGeom prst="rect">
            <a:avLst/>
          </a:prstGeom>
          <a:solidFill>
            <a:srgbClr val="00E5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760" rIns="2376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2026-06-21T00:05:51Z</dcterms:modified>
  <cp:revision>1</cp:revision>
  <dc:subject/>
  <dc:title/>
</cp:coreProperties>
</file>